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2"/>
    <p:sldMasterId id="2147483667" r:id="rId3"/>
  </p:sldMasterIdLst>
  <p:notesMasterIdLst>
    <p:notesMasterId r:id="rId27"/>
  </p:notesMasterIdLst>
  <p:handoutMasterIdLst>
    <p:handoutMasterId r:id="rId28"/>
  </p:handoutMasterIdLst>
  <p:sldIdLst>
    <p:sldId id="397" r:id="rId4"/>
    <p:sldId id="262" r:id="rId5"/>
    <p:sldId id="399" r:id="rId6"/>
    <p:sldId id="520" r:id="rId7"/>
    <p:sldId id="521" r:id="rId8"/>
    <p:sldId id="522" r:id="rId9"/>
    <p:sldId id="523" r:id="rId10"/>
    <p:sldId id="528" r:id="rId11"/>
    <p:sldId id="524" r:id="rId12"/>
    <p:sldId id="525" r:id="rId13"/>
    <p:sldId id="526" r:id="rId14"/>
    <p:sldId id="527" r:id="rId15"/>
    <p:sldId id="529" r:id="rId16"/>
    <p:sldId id="531" r:id="rId17"/>
    <p:sldId id="530" r:id="rId18"/>
    <p:sldId id="532" r:id="rId19"/>
    <p:sldId id="533" r:id="rId20"/>
    <p:sldId id="534" r:id="rId21"/>
    <p:sldId id="535" r:id="rId22"/>
    <p:sldId id="536" r:id="rId23"/>
    <p:sldId id="537" r:id="rId24"/>
    <p:sldId id="538" r:id="rId25"/>
    <p:sldId id="30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B3FB713-B49C-4EF5-9251-DBB6CEE6B53E}">
          <p14:sldIdLst>
            <p14:sldId id="397"/>
            <p14:sldId id="262"/>
            <p14:sldId id="399"/>
            <p14:sldId id="520"/>
            <p14:sldId id="521"/>
            <p14:sldId id="522"/>
            <p14:sldId id="523"/>
            <p14:sldId id="528"/>
            <p14:sldId id="524"/>
            <p14:sldId id="525"/>
            <p14:sldId id="526"/>
            <p14:sldId id="527"/>
            <p14:sldId id="529"/>
            <p14:sldId id="531"/>
            <p14:sldId id="530"/>
            <p14:sldId id="532"/>
            <p14:sldId id="533"/>
            <p14:sldId id="534"/>
            <p14:sldId id="535"/>
            <p14:sldId id="536"/>
            <p14:sldId id="537"/>
            <p14:sldId id="538"/>
            <p14:sldId id="300"/>
          </p14:sldIdLst>
        </p14:section>
      </p14:sectionLst>
    </p:ext>
    <p:ext uri="{EFAFB233-063F-42B5-8137-9DF3F51BA10A}">
      <p15:sldGuideLst xmlns:p15="http://schemas.microsoft.com/office/powerpoint/2012/main">
        <p15:guide id="1" orient="horz" pos="2248" userDrawn="1">
          <p15:clr>
            <a:srgbClr val="A4A3A4"/>
          </p15:clr>
        </p15:guide>
        <p15:guide id="2" pos="381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LAGONI JAYANTH" initials="KJ"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43A"/>
    <a:srgbClr val="103350"/>
    <a:srgbClr val="0C4360"/>
    <a:srgbClr val="1B6872"/>
    <a:srgbClr val="63B7C6"/>
    <a:srgbClr val="002136"/>
    <a:srgbClr val="0C75A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29" autoAdjust="0"/>
    <p:restoredTop sz="94660"/>
  </p:normalViewPr>
  <p:slideViewPr>
    <p:cSldViewPr snapToGrid="0" showGuides="1">
      <p:cViewPr varScale="1">
        <p:scale>
          <a:sx n="82" d="100"/>
          <a:sy n="82" d="100"/>
        </p:scale>
        <p:origin x="898" y="72"/>
      </p:cViewPr>
      <p:guideLst>
        <p:guide orient="horz" pos="2248"/>
        <p:guide pos="3818"/>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2.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ableStyles" Target="tableStyles.xml"/><Relationship Id="rId2" Type="http://schemas.openxmlformats.org/officeDocument/2006/relationships/slideMaster" Target="slideMasters/slideMaster1.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handoutMaster" Target="handoutMasters/handout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71"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1048872"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10/12/2025</a:t>
            </a:fld>
            <a:endParaRPr lang="en-US" dirty="0"/>
          </a:p>
        </p:txBody>
      </p:sp>
      <p:sp>
        <p:nvSpPr>
          <p:cNvPr id="1048873"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048874"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7:37:12.596"/>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06T07:37:17.369"/>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65"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1048866"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10/12/2025</a:t>
            </a:fld>
            <a:endParaRPr lang="en-US" noProof="0" dirty="0"/>
          </a:p>
        </p:txBody>
      </p:sp>
      <p:sp>
        <p:nvSpPr>
          <p:cNvPr id="1048867"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1048868"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48869"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1048870"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91" name="Rectangle 20"/>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35" name="Group 6"/>
          <p:cNvGrpSpPr/>
          <p:nvPr userDrawn="1"/>
        </p:nvGrpSpPr>
        <p:grpSpPr>
          <a:xfrm>
            <a:off x="-1604709" y="-3756"/>
            <a:ext cx="13796710" cy="6861756"/>
            <a:chOff x="-1604709" y="-3756"/>
            <a:chExt cx="13796710" cy="6861756"/>
          </a:xfrm>
        </p:grpSpPr>
        <p:grpSp>
          <p:nvGrpSpPr>
            <p:cNvPr id="36" name="Group 7"/>
            <p:cNvGrpSpPr/>
            <p:nvPr/>
          </p:nvGrpSpPr>
          <p:grpSpPr>
            <a:xfrm>
              <a:off x="-16298" y="0"/>
              <a:ext cx="12208299" cy="6858000"/>
              <a:chOff x="-16298" y="0"/>
              <a:chExt cx="12208299" cy="6858000"/>
            </a:xfrm>
          </p:grpSpPr>
          <p:sp>
            <p:nvSpPr>
              <p:cNvPr id="1048592" name="Freeform: Shape 14"/>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593" name="Freeform: Shape 15"/>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594" name="Right Triangle 16"/>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595" name="Right Triangle 17"/>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596" name="Right Triangle 18"/>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597" name="Freeform: Shape 19"/>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048598" name="Freeform: Shape 12"/>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599" name="Freeform: Shape 9"/>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600" name="Freeform: Shape 12"/>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37" name="Group 11"/>
            <p:cNvGrpSpPr/>
            <p:nvPr/>
          </p:nvGrpSpPr>
          <p:grpSpPr>
            <a:xfrm>
              <a:off x="-760406" y="4672937"/>
              <a:ext cx="1520812" cy="1520812"/>
              <a:chOff x="-1604709" y="3012880"/>
              <a:chExt cx="3211378" cy="3211378"/>
            </a:xfrm>
          </p:grpSpPr>
          <p:sp>
            <p:nvSpPr>
              <p:cNvPr id="1048601" name="Freeform: Shape 12"/>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602" name="Freeform: Shape 12"/>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1048603" name="Title 1"/>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1048604" name="Subtitle 2"/>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13" name="Rectangle 6"/>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814" name="Freeform: Shape 7"/>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815" name="Freeform: Shape 8"/>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816" name="Right Triangle 9"/>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817" name="Freeform: Shape 10"/>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818" name="Freeform: Shape 11"/>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819" name="Freeform: Shape 12"/>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820" name="Freeform: Shape 13"/>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821" name="Freeform: Shape 14"/>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93" name="Group 15"/>
          <p:cNvGrpSpPr/>
          <p:nvPr userDrawn="1"/>
        </p:nvGrpSpPr>
        <p:grpSpPr>
          <a:xfrm rot="16200000">
            <a:off x="431651" y="-917359"/>
            <a:ext cx="1532001" cy="1826463"/>
            <a:chOff x="10800164" y="7142066"/>
            <a:chExt cx="2775293" cy="3308724"/>
          </a:xfrm>
        </p:grpSpPr>
        <p:sp>
          <p:nvSpPr>
            <p:cNvPr id="1048822" name="Freeform: Shape 16"/>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823" name="Freeform: Shape 17"/>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94" name="Group 18"/>
          <p:cNvGrpSpPr/>
          <p:nvPr userDrawn="1"/>
        </p:nvGrpSpPr>
        <p:grpSpPr>
          <a:xfrm rot="16200000">
            <a:off x="1992859" y="-497210"/>
            <a:ext cx="818398" cy="986162"/>
            <a:chOff x="10945855" y="7317026"/>
            <a:chExt cx="2483924" cy="2993104"/>
          </a:xfrm>
        </p:grpSpPr>
        <p:sp>
          <p:nvSpPr>
            <p:cNvPr id="1048824" name="Freeform: Shape 19"/>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825" name="Freeform: Shape 20"/>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048826" name="Text Placeholder 2"/>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1048827"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
        <p:nvSpPr>
          <p:cNvPr id="1048828" name="Title 1"/>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1048776" name="Rectangle 21"/>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77" name="Freeform: Shape 33"/>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778" name="Freeform: Shape 23"/>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79" name="Freeform: Shape 24"/>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85" name="Group 25"/>
          <p:cNvGrpSpPr/>
          <p:nvPr userDrawn="1"/>
        </p:nvGrpSpPr>
        <p:grpSpPr>
          <a:xfrm>
            <a:off x="9776075" y="2057401"/>
            <a:ext cx="4413559" cy="3934444"/>
            <a:chOff x="9222437" y="1088097"/>
            <a:chExt cx="5433318" cy="4843502"/>
          </a:xfrm>
        </p:grpSpPr>
        <p:sp>
          <p:nvSpPr>
            <p:cNvPr id="1048780" name="Freeform: Shape 26"/>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781" name="Freeform: Shape 27"/>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1048782" name="Freeform: Shape 28"/>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783" name="Freeform: Shape 29"/>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86" name="Group 30"/>
          <p:cNvGrpSpPr/>
          <p:nvPr userDrawn="1"/>
        </p:nvGrpSpPr>
        <p:grpSpPr>
          <a:xfrm rot="16200000" flipH="1">
            <a:off x="9913705" y="6257994"/>
            <a:ext cx="1052473" cy="1209445"/>
            <a:chOff x="10800165" y="7142066"/>
            <a:chExt cx="2775293" cy="3189215"/>
          </a:xfrm>
        </p:grpSpPr>
        <p:sp>
          <p:nvSpPr>
            <p:cNvPr id="1048784" name="Freeform: Shape 31"/>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85" name="Freeform: Shape 32"/>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048786" name="Title 1"/>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1048787" name="Text Placeholder 2"/>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1048788"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1048843" name="Rectangle 21"/>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844" name="Freeform: Shape 33"/>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845" name="Freeform: Shape 23"/>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846" name="Freeform: Shape 24"/>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847" name="Oval 3"/>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848" name="Title 1"/>
          <p:cNvSpPr txBox="1"/>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1048849" name="Title 1"/>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048850"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48607"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608"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609"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610"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1048611"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grpSp>
        <p:nvGrpSpPr>
          <p:cNvPr id="45" name="Group 14"/>
          <p:cNvGrpSpPr/>
          <p:nvPr userDrawn="1"/>
        </p:nvGrpSpPr>
        <p:grpSpPr>
          <a:xfrm rot="16200000">
            <a:off x="499388" y="-322655"/>
            <a:ext cx="535531" cy="645309"/>
            <a:chOff x="10945855" y="7317026"/>
            <a:chExt cx="2483924" cy="2993104"/>
          </a:xfrm>
        </p:grpSpPr>
        <p:sp>
          <p:nvSpPr>
            <p:cNvPr id="1048612"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613"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048614" name="Text Placeholder 22"/>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48672"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673"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674"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675"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676"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677"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62" name="Group 14"/>
          <p:cNvGrpSpPr/>
          <p:nvPr userDrawn="1"/>
        </p:nvGrpSpPr>
        <p:grpSpPr>
          <a:xfrm rot="16200000">
            <a:off x="499388" y="-322655"/>
            <a:ext cx="535531" cy="645309"/>
            <a:chOff x="10945855" y="7317026"/>
            <a:chExt cx="2483924" cy="2993104"/>
          </a:xfrm>
        </p:grpSpPr>
        <p:sp>
          <p:nvSpPr>
            <p:cNvPr id="1048678"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679"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3" name="Group 5"/>
          <p:cNvGrpSpPr/>
          <p:nvPr userDrawn="1"/>
        </p:nvGrpSpPr>
        <p:grpSpPr>
          <a:xfrm>
            <a:off x="-1" y="1357409"/>
            <a:ext cx="12192001" cy="4846320"/>
            <a:chOff x="-1" y="1357409"/>
            <a:chExt cx="12192001" cy="4917518"/>
          </a:xfrm>
        </p:grpSpPr>
        <p:sp>
          <p:nvSpPr>
            <p:cNvPr id="1048680"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en-US" noProof="0" dirty="0"/>
            </a:p>
          </p:txBody>
        </p:sp>
        <p:sp>
          <p:nvSpPr>
            <p:cNvPr id="1048681"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048682" name="Freeform: Shape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683"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1048618"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619"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620"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621"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622"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623"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48" name="Group 14"/>
          <p:cNvGrpSpPr/>
          <p:nvPr userDrawn="1"/>
        </p:nvGrpSpPr>
        <p:grpSpPr>
          <a:xfrm rot="16200000">
            <a:off x="499388" y="-322655"/>
            <a:ext cx="535531" cy="645309"/>
            <a:chOff x="10945855" y="7317026"/>
            <a:chExt cx="2483924" cy="2993104"/>
          </a:xfrm>
        </p:grpSpPr>
        <p:sp>
          <p:nvSpPr>
            <p:cNvPr id="1048624"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625"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49" name="Group 5"/>
          <p:cNvGrpSpPr/>
          <p:nvPr userDrawn="1"/>
        </p:nvGrpSpPr>
        <p:grpSpPr>
          <a:xfrm>
            <a:off x="-1" y="1357409"/>
            <a:ext cx="12192001" cy="4846320"/>
            <a:chOff x="-1" y="1357409"/>
            <a:chExt cx="12192001" cy="4917518"/>
          </a:xfrm>
        </p:grpSpPr>
        <p:sp>
          <p:nvSpPr>
            <p:cNvPr id="1048626"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en-US" noProof="0" dirty="0"/>
            </a:p>
          </p:txBody>
        </p:sp>
        <p:sp>
          <p:nvSpPr>
            <p:cNvPr id="1048627"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048628" name="Freeform: Shape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629"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
        <p:nvSpPr>
          <p:cNvPr id="1048630" name="Text Placeholder 6"/>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48637"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638"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639"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640"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641"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64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53" name="Group 14"/>
          <p:cNvGrpSpPr/>
          <p:nvPr userDrawn="1"/>
        </p:nvGrpSpPr>
        <p:grpSpPr>
          <a:xfrm rot="16200000">
            <a:off x="499388" y="-322655"/>
            <a:ext cx="535531" cy="645309"/>
            <a:chOff x="10945855" y="7317026"/>
            <a:chExt cx="2483924" cy="2993104"/>
          </a:xfrm>
        </p:grpSpPr>
        <p:sp>
          <p:nvSpPr>
            <p:cNvPr id="1048643"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644"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54" name="Group 5"/>
          <p:cNvGrpSpPr/>
          <p:nvPr userDrawn="1"/>
        </p:nvGrpSpPr>
        <p:grpSpPr>
          <a:xfrm>
            <a:off x="-1" y="1357409"/>
            <a:ext cx="12192001" cy="4846320"/>
            <a:chOff x="-1" y="1357409"/>
            <a:chExt cx="12192001" cy="4917518"/>
          </a:xfrm>
        </p:grpSpPr>
        <p:sp>
          <p:nvSpPr>
            <p:cNvPr id="1048645"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en-US" noProof="0" dirty="0"/>
            </a:p>
          </p:txBody>
        </p:sp>
        <p:sp>
          <p:nvSpPr>
            <p:cNvPr id="1048646"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048647" name="Freeform: Shape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648"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
        <p:nvSpPr>
          <p:cNvPr id="1048649" name="Content Placeholder 2"/>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746"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47"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748"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749"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50"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51"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79" name="Group 14"/>
          <p:cNvGrpSpPr/>
          <p:nvPr userDrawn="1"/>
        </p:nvGrpSpPr>
        <p:grpSpPr>
          <a:xfrm rot="16200000">
            <a:off x="499388" y="-322655"/>
            <a:ext cx="535531" cy="645309"/>
            <a:chOff x="10945855" y="7317026"/>
            <a:chExt cx="2483924" cy="2993104"/>
          </a:xfrm>
        </p:grpSpPr>
        <p:sp>
          <p:nvSpPr>
            <p:cNvPr id="1048752"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53"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80" name="Group 5"/>
          <p:cNvGrpSpPr/>
          <p:nvPr userDrawn="1"/>
        </p:nvGrpSpPr>
        <p:grpSpPr>
          <a:xfrm>
            <a:off x="-1" y="1357409"/>
            <a:ext cx="12192001" cy="4846320"/>
            <a:chOff x="-1" y="1357409"/>
            <a:chExt cx="12192001" cy="4917518"/>
          </a:xfrm>
        </p:grpSpPr>
        <p:sp>
          <p:nvSpPr>
            <p:cNvPr id="1048754"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en-US" noProof="0" dirty="0"/>
            </a:p>
          </p:txBody>
        </p:sp>
        <p:sp>
          <p:nvSpPr>
            <p:cNvPr id="1048755"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048756" name="Freeform: Shape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57"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
        <p:nvSpPr>
          <p:cNvPr id="1048758" name="Text Placeholder 2"/>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048759" name="Text Placeholder 4"/>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048760" name="Content Placeholder 3"/>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48761" name="Content Placeholder 5"/>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29"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830"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831"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832"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833"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834"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96" name="Group 14"/>
          <p:cNvGrpSpPr/>
          <p:nvPr userDrawn="1"/>
        </p:nvGrpSpPr>
        <p:grpSpPr>
          <a:xfrm rot="16200000">
            <a:off x="499388" y="-322655"/>
            <a:ext cx="535531" cy="645309"/>
            <a:chOff x="10945855" y="7317026"/>
            <a:chExt cx="2483924" cy="2993104"/>
          </a:xfrm>
        </p:grpSpPr>
        <p:sp>
          <p:nvSpPr>
            <p:cNvPr id="1048835"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836"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97" name="Group 5"/>
          <p:cNvGrpSpPr/>
          <p:nvPr userDrawn="1"/>
        </p:nvGrpSpPr>
        <p:grpSpPr>
          <a:xfrm>
            <a:off x="-1" y="1357409"/>
            <a:ext cx="12192001" cy="4846320"/>
            <a:chOff x="-1" y="1357409"/>
            <a:chExt cx="12192001" cy="4917518"/>
          </a:xfrm>
        </p:grpSpPr>
        <p:sp>
          <p:nvSpPr>
            <p:cNvPr id="1048837"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en-US" noProof="0" dirty="0"/>
            </a:p>
          </p:txBody>
        </p:sp>
        <p:sp>
          <p:nvSpPr>
            <p:cNvPr id="1048838"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048839" name="Freeform: Shape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840"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
        <p:nvSpPr>
          <p:cNvPr id="1048841" name="Content Placeholder 2"/>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48842" name="Content Placeholder 3"/>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spTree>
      <p:nvGrpSpPr>
        <p:cNvPr id="1" name=""/>
        <p:cNvGrpSpPr/>
        <p:nvPr/>
      </p:nvGrpSpPr>
      <p:grpSpPr>
        <a:xfrm>
          <a:off x="0" y="0"/>
          <a:ext cx="0" cy="0"/>
          <a:chOff x="0" y="0"/>
          <a:chExt cx="0" cy="0"/>
        </a:xfrm>
      </p:grpSpPr>
      <p:sp>
        <p:nvSpPr>
          <p:cNvPr id="1048724"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25"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726"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727"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28"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29"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76" name="Group 14"/>
          <p:cNvGrpSpPr/>
          <p:nvPr userDrawn="1"/>
        </p:nvGrpSpPr>
        <p:grpSpPr>
          <a:xfrm rot="16200000">
            <a:off x="499388" y="-322655"/>
            <a:ext cx="535531" cy="645309"/>
            <a:chOff x="10945855" y="7317026"/>
            <a:chExt cx="2483924" cy="2993104"/>
          </a:xfrm>
        </p:grpSpPr>
        <p:sp>
          <p:nvSpPr>
            <p:cNvPr id="1048730"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31"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77" name="Group 5"/>
          <p:cNvGrpSpPr/>
          <p:nvPr userDrawn="1"/>
        </p:nvGrpSpPr>
        <p:grpSpPr>
          <a:xfrm>
            <a:off x="-1" y="1357409"/>
            <a:ext cx="12192001" cy="4846320"/>
            <a:chOff x="-1" y="1357409"/>
            <a:chExt cx="12192001" cy="4917518"/>
          </a:xfrm>
        </p:grpSpPr>
        <p:sp>
          <p:nvSpPr>
            <p:cNvPr id="1048732"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33"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048734" name="Picture Placeholder 8"/>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dirty="0"/>
              <a:t>Click icon to add picture</a:t>
            </a:r>
          </a:p>
        </p:txBody>
      </p:sp>
      <p:sp>
        <p:nvSpPr>
          <p:cNvPr id="1048735" name="Picture Placeholder 8"/>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dirty="0"/>
              <a:t>Click icon to add picture</a:t>
            </a:r>
          </a:p>
        </p:txBody>
      </p:sp>
      <p:sp>
        <p:nvSpPr>
          <p:cNvPr id="1048736" name="Picture Placeholder 8"/>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dirty="0"/>
              <a:t>Click icon to add picture</a:t>
            </a:r>
          </a:p>
        </p:txBody>
      </p:sp>
      <p:sp>
        <p:nvSpPr>
          <p:cNvPr id="1048737" name="Picture Placeholder 8"/>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dirty="0"/>
              <a:t>Click icon to add picture</a:t>
            </a:r>
          </a:p>
        </p:txBody>
      </p:sp>
      <p:sp>
        <p:nvSpPr>
          <p:cNvPr id="1048738" name="Picture Placeholder 8"/>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dirty="0"/>
              <a:t>Click icon to add picture</a:t>
            </a:r>
          </a:p>
        </p:txBody>
      </p:sp>
      <p:sp>
        <p:nvSpPr>
          <p:cNvPr id="1048739" name="Text Placeholder 22"/>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1048740" name="Text Placeholder 22"/>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1048741" name="Text Placeholder 22"/>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1048742" name="Text Placeholder 22"/>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1048743" name="Text Placeholder 22"/>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3145728" name="Straight Connector 6"/>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45729" name="Straight Connector 30"/>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45730" name="Straight Connector 31"/>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45731" name="Straight Connector 32"/>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45732" name="Straight Connector 33"/>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1048744" name="Freeform: Shape 34"/>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45"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spTree>
      <p:nvGrpSpPr>
        <p:cNvPr id="1" name=""/>
        <p:cNvGrpSpPr/>
        <p:nvPr/>
      </p:nvGrpSpPr>
      <p:grpSpPr>
        <a:xfrm>
          <a:off x="0" y="0"/>
          <a:ext cx="0" cy="0"/>
          <a:chOff x="0" y="0"/>
          <a:chExt cx="0" cy="0"/>
        </a:xfrm>
      </p:grpSpPr>
      <p:sp>
        <p:nvSpPr>
          <p:cNvPr id="1048797"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98"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799"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800"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801"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802"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90" name="Group 14"/>
          <p:cNvGrpSpPr/>
          <p:nvPr userDrawn="1"/>
        </p:nvGrpSpPr>
        <p:grpSpPr>
          <a:xfrm rot="16200000">
            <a:off x="499388" y="-322655"/>
            <a:ext cx="535531" cy="645309"/>
            <a:chOff x="10945855" y="7317026"/>
            <a:chExt cx="2483924" cy="2993104"/>
          </a:xfrm>
        </p:grpSpPr>
        <p:sp>
          <p:nvSpPr>
            <p:cNvPr id="1048803"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804"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91" name="Group 5"/>
          <p:cNvGrpSpPr/>
          <p:nvPr userDrawn="1"/>
        </p:nvGrpSpPr>
        <p:grpSpPr>
          <a:xfrm>
            <a:off x="-1" y="1357409"/>
            <a:ext cx="12192001" cy="4846320"/>
            <a:chOff x="-1" y="1357409"/>
            <a:chExt cx="12192001" cy="4917518"/>
          </a:xfrm>
        </p:grpSpPr>
        <p:sp>
          <p:nvSpPr>
            <p:cNvPr id="1048805"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806"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048807" name="Text Placeholder 22"/>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1048808" name="Freeform: Shape 34"/>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809"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
        <p:nvSpPr>
          <p:cNvPr id="1048810" name="Picture Placeholder 12"/>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1048811" name="Text Placeholder 22"/>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1048812" name="Text Placeholder 22"/>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spTree>
      <p:nvGrpSpPr>
        <p:cNvPr id="1" name=""/>
        <p:cNvGrpSpPr/>
        <p:nvPr/>
      </p:nvGrpSpPr>
      <p:grpSpPr>
        <a:xfrm>
          <a:off x="0" y="0"/>
          <a:ext cx="0" cy="0"/>
          <a:chOff x="0" y="0"/>
          <a:chExt cx="0" cy="0"/>
        </a:xfrm>
      </p:grpSpPr>
      <p:sp>
        <p:nvSpPr>
          <p:cNvPr id="1048710"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11"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712"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713"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14"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15"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73" name="Group 14"/>
          <p:cNvGrpSpPr/>
          <p:nvPr userDrawn="1"/>
        </p:nvGrpSpPr>
        <p:grpSpPr>
          <a:xfrm rot="16200000">
            <a:off x="499388" y="-322655"/>
            <a:ext cx="535531" cy="645309"/>
            <a:chOff x="10945855" y="7317026"/>
            <a:chExt cx="2483924" cy="2993104"/>
          </a:xfrm>
        </p:grpSpPr>
        <p:sp>
          <p:nvSpPr>
            <p:cNvPr id="1048716"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17"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74" name="Group 5"/>
          <p:cNvGrpSpPr/>
          <p:nvPr userDrawn="1"/>
        </p:nvGrpSpPr>
        <p:grpSpPr>
          <a:xfrm>
            <a:off x="-1" y="1357409"/>
            <a:ext cx="12192001" cy="4846320"/>
            <a:chOff x="-1" y="1357409"/>
            <a:chExt cx="12192001" cy="4917518"/>
          </a:xfrm>
        </p:grpSpPr>
        <p:sp>
          <p:nvSpPr>
            <p:cNvPr id="1048718"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19"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048720" name="Text Placeholder 22"/>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1048721" name="Freeform: Shape 34"/>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22"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
        <p:nvSpPr>
          <p:cNvPr id="1048723" name="Picture Placeholder 12"/>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51"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852"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853"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854"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855"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856"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00" name="Group 14"/>
          <p:cNvGrpSpPr/>
          <p:nvPr userDrawn="1"/>
        </p:nvGrpSpPr>
        <p:grpSpPr>
          <a:xfrm rot="16200000">
            <a:off x="499388" y="-322655"/>
            <a:ext cx="535531" cy="645309"/>
            <a:chOff x="10945855" y="7317026"/>
            <a:chExt cx="2483924" cy="2993104"/>
          </a:xfrm>
        </p:grpSpPr>
        <p:sp>
          <p:nvSpPr>
            <p:cNvPr id="1048857"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858"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01" name="Group 5"/>
          <p:cNvGrpSpPr/>
          <p:nvPr userDrawn="1"/>
        </p:nvGrpSpPr>
        <p:grpSpPr>
          <a:xfrm>
            <a:off x="-1" y="1357409"/>
            <a:ext cx="12192001" cy="4846320"/>
            <a:chOff x="-1" y="1357409"/>
            <a:chExt cx="12192001" cy="4917518"/>
          </a:xfrm>
        </p:grpSpPr>
        <p:sp>
          <p:nvSpPr>
            <p:cNvPr id="1048859"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860"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048861" name="Freeform: Shape 34"/>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862"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
        <p:nvSpPr>
          <p:cNvPr id="1048863" name="Picture Placeholder 2"/>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dirty="0"/>
              <a:t>Click icon to add picture</a:t>
            </a:r>
          </a:p>
        </p:txBody>
      </p:sp>
      <p:sp>
        <p:nvSpPr>
          <p:cNvPr id="1048864" name="Text Placeholder 3"/>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048762" name="Rectangle 10"/>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63"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764"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765"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66"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67" name="Title 1"/>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82" name="Group 14"/>
          <p:cNvGrpSpPr/>
          <p:nvPr userDrawn="1"/>
        </p:nvGrpSpPr>
        <p:grpSpPr>
          <a:xfrm rot="16200000">
            <a:off x="499388" y="-322655"/>
            <a:ext cx="535531" cy="645309"/>
            <a:chOff x="10945855" y="7317026"/>
            <a:chExt cx="2483924" cy="2993104"/>
          </a:xfrm>
        </p:grpSpPr>
        <p:sp>
          <p:nvSpPr>
            <p:cNvPr id="1048768"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69"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83" name="Group 5"/>
          <p:cNvGrpSpPr/>
          <p:nvPr userDrawn="1"/>
        </p:nvGrpSpPr>
        <p:grpSpPr>
          <a:xfrm>
            <a:off x="-1" y="1357409"/>
            <a:ext cx="12192001" cy="4846320"/>
            <a:chOff x="-1" y="1357409"/>
            <a:chExt cx="12192001" cy="4917518"/>
          </a:xfrm>
        </p:grpSpPr>
        <p:sp>
          <p:nvSpPr>
            <p:cNvPr id="1048770" name="Rectangle: Single Corner Snipped 18"/>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71"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048772" name="Freeform: Shape 34"/>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73"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
        <p:nvSpPr>
          <p:cNvPr id="1048774" name="Text Placeholder 3"/>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1048775" name="Content Placeholder 2"/>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048692" name="Rectangle 17"/>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693" name="Freeform: Shape 9"/>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694"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695" name="Freeform: Shape 11"/>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696" name="Freeform: Shape 7"/>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9" name="Group 23"/>
          <p:cNvGrpSpPr/>
          <p:nvPr userDrawn="1"/>
        </p:nvGrpSpPr>
        <p:grpSpPr>
          <a:xfrm rot="16200000">
            <a:off x="499388" y="-322655"/>
            <a:ext cx="535531" cy="645309"/>
            <a:chOff x="10945855" y="7317026"/>
            <a:chExt cx="2483924" cy="2993104"/>
          </a:xfrm>
        </p:grpSpPr>
        <p:sp>
          <p:nvSpPr>
            <p:cNvPr id="1048697"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698"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048699" name="Freeform: Shape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00" name="Slide Number Placeholder 4"/>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t>‹#›</a:t>
            </a:fld>
            <a:endParaRPr lang="en-US" noProof="0"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1048789" name="Rectangle 20"/>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90" name="Freeform: Shape 14"/>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91" name="Freeform: Shape 15"/>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92" name="Freeform: Shape 19"/>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88" name="Group 5"/>
          <p:cNvGrpSpPr/>
          <p:nvPr userDrawn="1"/>
        </p:nvGrpSpPr>
        <p:grpSpPr>
          <a:xfrm>
            <a:off x="0" y="0"/>
            <a:ext cx="6881966" cy="6858876"/>
            <a:chOff x="-5321" y="1096"/>
            <a:chExt cx="5924073" cy="5904197"/>
          </a:xfrm>
        </p:grpSpPr>
        <p:sp>
          <p:nvSpPr>
            <p:cNvPr id="1048793" name="Right Triangle 16"/>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94" name="Right Triangle 17"/>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95" name="Right Triangle 18"/>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048796" name="Title 1"/>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1048702" name="Rectangle 20"/>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03" name="Freeform: Shape 14"/>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04" name="Freeform: Shape 15"/>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05" name="Freeform: Shape 19"/>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706" name="Title 1"/>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1048707" name="Freeform: Shape 34"/>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708" name="Freeform: Shape 31"/>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709" name="Freeform: Shape 29"/>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1048577" name="Text Placeholder 2"/>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48578" name="Slide Number Placeholder 5"/>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1048579" name="Rectangle 4"/>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580" name="Freeform: Shape 9"/>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581" name="Freeform: Shape 17"/>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048582" name="Freeform: Shape 11"/>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583" name="Freeform: Shape 7"/>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584" name="Title 1"/>
          <p:cNvSpPr txBox="1"/>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4" name="Group 11"/>
          <p:cNvGrpSpPr/>
          <p:nvPr userDrawn="1"/>
        </p:nvGrpSpPr>
        <p:grpSpPr>
          <a:xfrm rot="16200000">
            <a:off x="499388" y="-322655"/>
            <a:ext cx="535531" cy="645309"/>
            <a:chOff x="10945855" y="7317026"/>
            <a:chExt cx="2483924" cy="2993104"/>
          </a:xfrm>
        </p:grpSpPr>
        <p:sp>
          <p:nvSpPr>
            <p:cNvPr id="1048585" name="Freeform: Shape 15"/>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586" name="Freeform: Shape 16"/>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p:cNvGrpSpPr/>
          <p:nvPr userDrawn="1"/>
        </p:nvGrpSpPr>
        <p:grpSpPr>
          <a:xfrm>
            <a:off x="-1" y="1357409"/>
            <a:ext cx="12192001" cy="4846320"/>
            <a:chOff x="-1" y="1357409"/>
            <a:chExt cx="12192001" cy="4917518"/>
          </a:xfrm>
        </p:grpSpPr>
        <p:sp>
          <p:nvSpPr>
            <p:cNvPr id="1048587" name="Rectangle: Single Corner Snipped 18"/>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en-US" noProof="0" dirty="0"/>
            </a:p>
          </p:txBody>
        </p:sp>
        <p:sp>
          <p:nvSpPr>
            <p:cNvPr id="1048588" name="Rectangle: Single Corner Snipped 2"/>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048589" name="Freeform: Shape 23"/>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48590" name="Slide Number Placeholder 4"/>
          <p:cNvSpPr txBox="1"/>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t>‹#›</a:t>
            </a:fld>
            <a:endParaRPr lang="en-US" noProof="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DB4EAD-8342-4486-AB77-1BEED4E5B9A8}" type="datetimeFigureOut">
              <a:rPr lang="en-IN" smtClean="0"/>
              <a:t>12-10-2025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3.jpeg"/><Relationship Id="rId1" Type="http://schemas.openxmlformats.org/officeDocument/2006/relationships/slideLayout" Target="../slideLayouts/slideLayout20.xml"/><Relationship Id="rId5" Type="http://schemas.openxmlformats.org/officeDocument/2006/relationships/customXml" Target="../ink/ink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C263D6C4-4840-40CC-AC84-17E24B3B7BDE}" type="slidenum">
              <a:rPr kumimoji="0" lang="en-US" sz="1000" b="0" i="0" u="none" strike="noStrike" kern="1200" cap="none" spc="0" normalizeH="0" baseline="0" noProof="0" smtClean="0">
                <a:ln>
                  <a:noFill/>
                </a:ln>
                <a:solidFill>
                  <a:srgbClr val="FFFFFF"/>
                </a:solidFill>
                <a:effectLst/>
                <a:uLnTx/>
                <a:uFillTx/>
                <a:latin typeface="Trade Gothic LT Pro" panose="020B0503040303020004" pitchFamily="34" charset="0"/>
                <a:ea typeface="+mn-ea"/>
                <a:cs typeface="+mn-cs"/>
              </a:rPr>
              <a:t>1</a:t>
            </a:fld>
            <a:endParaRPr kumimoji="0" lang="en-US" sz="1000" b="0" i="0" u="none" strike="noStrike" kern="1200" cap="none" spc="0" normalizeH="0" baseline="0" noProof="0" dirty="0">
              <a:ln>
                <a:noFill/>
              </a:ln>
              <a:solidFill>
                <a:srgbClr val="FFFFFF"/>
              </a:solidFill>
              <a:effectLst/>
              <a:uLnTx/>
              <a:uFillTx/>
              <a:latin typeface="Trade Gothic LT Pro" panose="020B0503040303020004" pitchFamily="34" charset="0"/>
              <a:ea typeface="+mn-ea"/>
              <a:cs typeface="+mn-cs"/>
            </a:endParaRPr>
          </a:p>
        </p:txBody>
      </p:sp>
      <p:sp>
        <p:nvSpPr>
          <p:cNvPr id="7" name="TextBox 6"/>
          <p:cNvSpPr txBox="1"/>
          <p:nvPr/>
        </p:nvSpPr>
        <p:spPr>
          <a:xfrm>
            <a:off x="0" y="332105"/>
            <a:ext cx="12192000" cy="6193155"/>
          </a:xfrm>
          <a:prstGeom prst="rect">
            <a:avLst/>
          </a:prstGeom>
          <a:noFill/>
        </p:spPr>
        <p:txBody>
          <a:bodyPr wrap="square">
            <a:noAutofit/>
          </a:bodyPr>
          <a:lstStyle/>
          <a:p>
            <a:pPr algn="ctr"/>
            <a:r>
              <a:rPr kumimoji="0" lang="en-US" sz="3600" b="1"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“DeepSide: A Deep Learning Framework for </a:t>
            </a:r>
          </a:p>
          <a:p>
            <a:pPr algn="ctr"/>
            <a:r>
              <a:rPr kumimoji="0" lang="en-US" sz="3600" b="1"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Drug Side Effect Prediction” </a:t>
            </a:r>
          </a:p>
          <a:p>
            <a:pPr algn="ctr"/>
            <a:endParaRPr kumimoji="0" lang="en-US" sz="3600" b="1" i="0" u="none" strike="noStrike" kern="1200" cap="none" spc="0" normalizeH="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algn="ctr"/>
            <a:r>
              <a:rPr kumimoji="0" lang="en-US" sz="2000" b="1" i="0" u="sng"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BATCH  -  </a:t>
            </a:r>
            <a:r>
              <a:rPr kumimoji="0" lang="en-IN" altLang="en-US" sz="2000" b="1" i="0" u="sng"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1</a:t>
            </a:r>
            <a:r>
              <a:rPr kumimoji="0" lang="en-US" altLang="en-IN" sz="2000" b="1" i="0" u="sng"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9</a:t>
            </a:r>
            <a:r>
              <a:rPr lang="en-IN" altLang="en-US" sz="2000" dirty="0">
                <a:solidFill>
                  <a:srgbClr val="000000"/>
                </a:solidFill>
                <a:latin typeface="Times New Roman" panose="02020603050405020304" pitchFamily="18" charset="0"/>
                <a:cs typeface="Times New Roman" panose="02020603050405020304" pitchFamily="18" charset="0"/>
                <a:sym typeface="+mn-ea"/>
              </a:rPr>
              <a:t>             </a:t>
            </a:r>
          </a:p>
          <a:p>
            <a:pPr algn="ctr"/>
            <a:r>
              <a:rPr kumimoji="0" lang="en-IN" altLang="en-US" sz="2000" b="0" i="0" u="none" strike="noStrike" kern="1200" cap="none" spc="0" normalizeH="0" baseline="0" noProof="0" dirty="0" err="1">
                <a:ln>
                  <a:noFill/>
                </a:ln>
                <a:solidFill>
                  <a:srgbClr val="000000"/>
                </a:solidFill>
                <a:effectLst/>
                <a:uLnTx/>
                <a:uFillTx/>
                <a:latin typeface="Times New Roman" panose="02020603050405020304" pitchFamily="18" charset="0"/>
                <a:ea typeface="+mn-ea"/>
                <a:cs typeface="Times New Roman" panose="02020603050405020304" pitchFamily="18" charset="0"/>
              </a:rPr>
              <a:t>E.Somnath</a:t>
            </a:r>
            <a:r>
              <a:rPr kumimoji="0" lang="en-I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 </a:t>
            </a:r>
            <a:r>
              <a:rPr kumimoji="0" 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22N31A12</a:t>
            </a:r>
            <a:r>
              <a:rPr kumimoji="0" lang="en-I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59</a:t>
            </a:r>
          </a:p>
          <a:p>
            <a:pPr algn="ctr"/>
            <a:r>
              <a:rPr lang="en-IN" altLang="en-US" sz="2000" dirty="0" err="1">
                <a:solidFill>
                  <a:srgbClr val="000000"/>
                </a:solidFill>
                <a:latin typeface="Times New Roman" panose="02020603050405020304" pitchFamily="18" charset="0"/>
                <a:cs typeface="Times New Roman" panose="02020603050405020304" pitchFamily="18" charset="0"/>
                <a:sym typeface="+mn-ea"/>
              </a:rPr>
              <a:t>G.Rakshith</a:t>
            </a:r>
            <a:r>
              <a:rPr lang="en-IN" altLang="en-US" sz="2000" dirty="0">
                <a:solidFill>
                  <a:srgbClr val="000000"/>
                </a:solidFill>
                <a:latin typeface="Times New Roman" panose="02020603050405020304" pitchFamily="18" charset="0"/>
                <a:cs typeface="Times New Roman" panose="02020603050405020304" pitchFamily="18" charset="0"/>
                <a:sym typeface="+mn-ea"/>
              </a:rPr>
              <a:t> - </a:t>
            </a:r>
            <a:r>
              <a:rPr lang="en-US" sz="2000" dirty="0">
                <a:solidFill>
                  <a:srgbClr val="000000"/>
                </a:solidFill>
                <a:latin typeface="Times New Roman" panose="02020603050405020304" pitchFamily="18" charset="0"/>
                <a:cs typeface="Times New Roman" panose="02020603050405020304" pitchFamily="18" charset="0"/>
                <a:sym typeface="+mn-ea"/>
              </a:rPr>
              <a:t>22N3</a:t>
            </a:r>
            <a:r>
              <a:rPr lang="en-IN" altLang="en-US" sz="2000" dirty="0">
                <a:solidFill>
                  <a:srgbClr val="000000"/>
                </a:solidFill>
                <a:latin typeface="Times New Roman" panose="02020603050405020304" pitchFamily="18" charset="0"/>
                <a:cs typeface="Times New Roman" panose="02020603050405020304" pitchFamily="18" charset="0"/>
                <a:sym typeface="+mn-ea"/>
              </a:rPr>
              <a:t>1A1260</a:t>
            </a:r>
          </a:p>
          <a:p>
            <a:pPr marL="0" marR="0" lvl="0" indent="0" algn="ctr" defTabSz="914400" rtl="0" eaLnBrk="1" fontAlgn="auto" latinLnBrk="0" hangingPunct="1">
              <a:lnSpc>
                <a:spcPct val="100000"/>
              </a:lnSpc>
              <a:spcBef>
                <a:spcPts val="0"/>
              </a:spcBef>
              <a:spcAft>
                <a:spcPts val="0"/>
              </a:spcAft>
              <a:buClrTx/>
              <a:buSzTx/>
              <a:buFontTx/>
              <a:buNone/>
              <a:defRPr/>
            </a:pPr>
            <a:r>
              <a:rPr lang="en-IN" altLang="en-US" sz="2000" noProof="0" dirty="0" err="1">
                <a:ln>
                  <a:noFill/>
                </a:ln>
                <a:solidFill>
                  <a:srgbClr val="000000"/>
                </a:solidFill>
                <a:effectLst/>
                <a:uLnTx/>
                <a:uFillTx/>
                <a:latin typeface="Times New Roman" panose="02020603050405020304" pitchFamily="18" charset="0"/>
                <a:cs typeface="Times New Roman" panose="02020603050405020304" pitchFamily="18" charset="0"/>
                <a:sym typeface="+mn-ea"/>
              </a:rPr>
              <a:t>D.Nishith</a:t>
            </a:r>
            <a:r>
              <a:rPr lang="en-IN" altLang="en-US" sz="2000" noProof="0" dirty="0">
                <a:ln>
                  <a:noFill/>
                </a:ln>
                <a:solidFill>
                  <a:srgbClr val="000000"/>
                </a:solidFill>
                <a:effectLst/>
                <a:uLnTx/>
                <a:uFillTx/>
                <a:latin typeface="Times New Roman" panose="02020603050405020304" pitchFamily="18" charset="0"/>
                <a:cs typeface="Times New Roman" panose="02020603050405020304" pitchFamily="18" charset="0"/>
                <a:sym typeface="+mn-ea"/>
              </a:rPr>
              <a:t>   - </a:t>
            </a:r>
            <a:r>
              <a:rPr lang="en-US" sz="2000" noProof="0" dirty="0">
                <a:ln>
                  <a:noFill/>
                </a:ln>
                <a:solidFill>
                  <a:srgbClr val="000000"/>
                </a:solidFill>
                <a:effectLst/>
                <a:uLnTx/>
                <a:uFillTx/>
                <a:latin typeface="Times New Roman" panose="02020603050405020304" pitchFamily="18" charset="0"/>
                <a:cs typeface="Times New Roman" panose="02020603050405020304" pitchFamily="18" charset="0"/>
                <a:sym typeface="+mn-ea"/>
              </a:rPr>
              <a:t>22N3</a:t>
            </a:r>
            <a:r>
              <a:rPr lang="en-IN" altLang="en-US" sz="2000" noProof="0" dirty="0">
                <a:ln>
                  <a:noFill/>
                </a:ln>
                <a:solidFill>
                  <a:srgbClr val="000000"/>
                </a:solidFill>
                <a:effectLst/>
                <a:uLnTx/>
                <a:uFillTx/>
                <a:latin typeface="Times New Roman" panose="02020603050405020304" pitchFamily="18" charset="0"/>
                <a:cs typeface="Times New Roman" panose="02020603050405020304" pitchFamily="18" charset="0"/>
                <a:sym typeface="+mn-ea"/>
              </a:rPr>
              <a:t>1A1255</a:t>
            </a:r>
            <a:endParaRPr kumimoji="0" lang="en-IN" alt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endParaRPr lang="en-IN" altLang="en-US" sz="2000" noProof="0" dirty="0">
              <a:ln>
                <a:noFill/>
              </a:ln>
              <a:solidFill>
                <a:srgbClr val="000000"/>
              </a:solidFill>
              <a:effectLst/>
              <a:uLnTx/>
              <a:uFillTx/>
              <a:latin typeface="Times New Roman" panose="02020603050405020304" pitchFamily="18" charset="0"/>
              <a:cs typeface="Times New Roman" panose="02020603050405020304" pitchFamily="18" charset="0"/>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endParaRPr lang="en-IN" altLang="en-US" sz="2000" noProof="0" dirty="0">
              <a:ln>
                <a:noFill/>
              </a:ln>
              <a:solidFill>
                <a:srgbClr val="000000"/>
              </a:solidFill>
              <a:effectLst/>
              <a:uLnTx/>
              <a:uFillTx/>
              <a:latin typeface="Times New Roman" panose="02020603050405020304" pitchFamily="18" charset="0"/>
              <a:cs typeface="Times New Roman" panose="02020603050405020304" pitchFamily="18" charset="0"/>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lang="en-IN" altLang="en-US" sz="2000" b="1" u="sng" noProof="0" dirty="0">
                <a:ln>
                  <a:noFill/>
                </a:ln>
                <a:solidFill>
                  <a:srgbClr val="000000"/>
                </a:solidFill>
                <a:effectLst/>
                <a:uLnTx/>
                <a:uFillTx/>
                <a:latin typeface="Times New Roman" panose="02020603050405020304" pitchFamily="18" charset="0"/>
                <a:cs typeface="Times New Roman" panose="02020603050405020304" pitchFamily="18" charset="0"/>
                <a:sym typeface="+mn-ea"/>
              </a:rPr>
              <a:t>INTERNAL GUIDE</a:t>
            </a:r>
          </a:p>
          <a:p>
            <a:pPr marL="0" marR="0" lvl="0" indent="0" algn="ctr" defTabSz="914400" rtl="0" eaLnBrk="1" fontAlgn="auto" latinLnBrk="0" hangingPunct="1">
              <a:lnSpc>
                <a:spcPct val="100000"/>
              </a:lnSpc>
              <a:spcBef>
                <a:spcPts val="0"/>
              </a:spcBef>
              <a:spcAft>
                <a:spcPts val="0"/>
              </a:spcAft>
              <a:buClrTx/>
              <a:buSzTx/>
              <a:buFontTx/>
              <a:buNone/>
              <a:defRPr/>
            </a:pPr>
            <a:r>
              <a:rPr lang="en-IN" altLang="en-US" sz="900" b="1" u="sng" noProof="0" dirty="0">
                <a:ln>
                  <a:noFill/>
                </a:ln>
                <a:solidFill>
                  <a:srgbClr val="000000"/>
                </a:solidFill>
                <a:effectLst/>
                <a:uLnTx/>
                <a:uFillTx/>
                <a:latin typeface="Times New Roman" panose="02020603050405020304" pitchFamily="18" charset="0"/>
                <a:cs typeface="Times New Roman" panose="02020603050405020304" pitchFamily="18" charset="0"/>
                <a:sym typeface="+mn-ea"/>
              </a:rPr>
              <a:t>   </a:t>
            </a:r>
            <a:endParaRPr lang="en-IN" altLang="en-US" sz="2000" b="1" u="sng" noProof="0" dirty="0">
              <a:ln>
                <a:noFill/>
              </a:ln>
              <a:solidFill>
                <a:srgbClr val="000000"/>
              </a:solidFill>
              <a:effectLst/>
              <a:uLnTx/>
              <a:uFillTx/>
              <a:latin typeface="Times New Roman" panose="02020603050405020304" pitchFamily="18" charset="0"/>
              <a:cs typeface="Times New Roman" panose="02020603050405020304" pitchFamily="18" charset="0"/>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lang="en-IN" altLang="en-US" sz="2000" noProof="0" dirty="0">
                <a:ln>
                  <a:noFill/>
                </a:ln>
                <a:solidFill>
                  <a:srgbClr val="000000"/>
                </a:solidFill>
                <a:effectLst/>
                <a:uLnTx/>
                <a:uFillTx/>
                <a:latin typeface="Times New Roman" panose="02020603050405020304" pitchFamily="18" charset="0"/>
                <a:cs typeface="Times New Roman" panose="02020603050405020304" pitchFamily="18" charset="0"/>
                <a:sym typeface="+mn-ea"/>
              </a:rPr>
              <a:t>G. Likitha Reddy</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Assistant Professor</a:t>
            </a: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lang="en-IN" b="1" dirty="0">
                <a:solidFill>
                  <a:srgbClr val="2A08B8"/>
                </a:solidFill>
                <a:latin typeface="Times New Roman" panose="02020603050405020304" pitchFamily="18" charset="0"/>
                <a:cs typeface="Times New Roman" panose="02020603050405020304" pitchFamily="18" charset="0"/>
              </a:rPr>
              <a:t>Department of Information Technology</a:t>
            </a:r>
          </a:p>
          <a:p>
            <a:pPr marL="0" marR="0" lvl="0" indent="0" algn="ctr" defTabSz="914400" rtl="0" eaLnBrk="1" fontAlgn="auto" latinLnBrk="0" hangingPunct="1">
              <a:lnSpc>
                <a:spcPct val="100000"/>
              </a:lnSpc>
              <a:spcBef>
                <a:spcPts val="0"/>
              </a:spcBef>
              <a:spcAft>
                <a:spcPts val="0"/>
              </a:spcAft>
              <a:buClrTx/>
              <a:buSzTx/>
              <a:buFontTx/>
              <a:buNone/>
              <a:defRPr/>
            </a:pPr>
            <a:r>
              <a:rPr lang="en-IN" b="1" dirty="0" err="1">
                <a:solidFill>
                  <a:srgbClr val="C00000"/>
                </a:solidFill>
                <a:latin typeface="Times New Roman" panose="02020603050405020304" pitchFamily="18" charset="0"/>
                <a:cs typeface="Times New Roman" panose="02020603050405020304" pitchFamily="18" charset="0"/>
              </a:rPr>
              <a:t>Malla</a:t>
            </a:r>
            <a:r>
              <a:rPr lang="en-IN" b="1" dirty="0">
                <a:solidFill>
                  <a:srgbClr val="C00000"/>
                </a:solidFill>
                <a:latin typeface="Times New Roman" panose="02020603050405020304" pitchFamily="18" charset="0"/>
                <a:cs typeface="Times New Roman" panose="02020603050405020304" pitchFamily="18" charset="0"/>
              </a:rPr>
              <a:t> Reddy College of Engineering &amp; Technology</a:t>
            </a:r>
          </a:p>
          <a:p>
            <a:pPr marL="0" marR="0" lvl="0" indent="0" algn="ctr" defTabSz="914400" rtl="0" eaLnBrk="1" fontAlgn="auto" latinLnBrk="0" hangingPunct="1">
              <a:lnSpc>
                <a:spcPct val="100000"/>
              </a:lnSpc>
              <a:spcBef>
                <a:spcPts val="0"/>
              </a:spcBef>
              <a:spcAft>
                <a:spcPts val="0"/>
              </a:spcAft>
              <a:buClrTx/>
              <a:buSzTx/>
              <a:buFontTx/>
              <a:buNone/>
              <a:defRPr/>
            </a:pPr>
            <a:r>
              <a:rPr lang="en-IN" dirty="0">
                <a:solidFill>
                  <a:srgbClr val="2A08B8"/>
                </a:solidFill>
                <a:latin typeface="Times New Roman" panose="02020603050405020304" pitchFamily="18" charset="0"/>
                <a:cs typeface="Times New Roman" panose="02020603050405020304" pitchFamily="18" charset="0"/>
              </a:rPr>
              <a:t>(Autonomous Institution- UGC, Govt. of India) </a:t>
            </a:r>
            <a:endParaRPr lang="en-IN" dirty="0">
              <a:solidFill>
                <a:srgbClr val="000000"/>
              </a:solidFill>
              <a:latin typeface="Times New Roman" panose="02020603050405020304" pitchFamily="18" charset="0"/>
              <a:cs typeface="Times New Roman" panose="02020603050405020304" pitchFamily="18" charset="0"/>
            </a:endParaRPr>
          </a:p>
          <a:p>
            <a:pPr lvl="0" algn="ctr">
              <a:defRPr/>
            </a:pPr>
            <a:r>
              <a:rPr lang="en-IN" dirty="0">
                <a:solidFill>
                  <a:srgbClr val="2A08B8"/>
                </a:solidFill>
                <a:latin typeface="Times New Roman" panose="02020603050405020304" pitchFamily="18" charset="0"/>
                <a:cs typeface="Times New Roman" panose="02020603050405020304" pitchFamily="18" charset="0"/>
              </a:rPr>
              <a:t>(Affiliated to JNTUH, Hyderabad, Approved by AICTE, NBA &amp;NAAC with ‘A’ Grade)</a:t>
            </a:r>
            <a:endParaRPr lang="en-US" b="1" dirty="0">
              <a:solidFill>
                <a:srgbClr val="000000"/>
              </a:solidFill>
              <a:latin typeface="Times New Roman" panose="02020603050405020304" pitchFamily="18" charset="0"/>
              <a:cs typeface="Times New Roman" panose="02020603050405020304" pitchFamily="18" charset="0"/>
            </a:endParaRPr>
          </a:p>
          <a:p>
            <a:pPr marL="0" marR="0" lvl="0" indent="0" defTabSz="914400" rtl="0" eaLnBrk="1" fontAlgn="auto" latinLnBrk="0" hangingPunct="1">
              <a:lnSpc>
                <a:spcPct val="100000"/>
              </a:lnSpc>
              <a:spcBef>
                <a:spcPts val="0"/>
              </a:spcBef>
              <a:spcAft>
                <a:spcPts val="0"/>
              </a:spcAft>
              <a:buClrTx/>
              <a:buSzTx/>
              <a:buFontTx/>
              <a:buNone/>
              <a:defRPr/>
            </a:pPr>
            <a:endParaRPr lang="en-US" b="1" dirty="0">
              <a:solidFill>
                <a:srgbClr val="000000"/>
              </a:solidFill>
              <a:latin typeface="Times New Roman" panose="02020603050405020304" pitchFamily="18" charset="0"/>
              <a:cs typeface="Times New Roman" panose="02020603050405020304" pitchFamily="18" charset="0"/>
            </a:endParaRPr>
          </a:p>
          <a:p>
            <a:pPr marL="0" marR="0" lvl="0" indent="0" defTabSz="914400" rtl="0" eaLnBrk="1" fontAlgn="auto" latinLnBrk="0" hangingPunct="1">
              <a:lnSpc>
                <a:spcPct val="100000"/>
              </a:lnSpc>
              <a:spcBef>
                <a:spcPts val="0"/>
              </a:spcBef>
              <a:spcAft>
                <a:spcPts val="0"/>
              </a:spcAft>
              <a:buClrTx/>
              <a:buSzTx/>
              <a:buFontTx/>
              <a:buNone/>
              <a:defRPr/>
            </a:pPr>
            <a:endParaRPr kumimoji="0" lang="en-US"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0" marR="0" lvl="0" indent="0"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srgbClr val="2A08B8"/>
                </a:solidFill>
                <a:effectLst/>
                <a:uLnTx/>
                <a:uFillTx/>
                <a:latin typeface="Times New Roman" panose="02020603050405020304" pitchFamily="18" charset="0"/>
                <a:ea typeface="+mn-ea"/>
                <a:cs typeface="Times New Roman" panose="02020603050405020304" pitchFamily="18" charset="0"/>
              </a:rPr>
              <a:t>                                              </a:t>
            </a:r>
            <a:r>
              <a:rPr lang="en-US" b="1" noProof="0" dirty="0">
                <a:solidFill>
                  <a:srgbClr val="2A08B8"/>
                </a:solidFill>
                <a:latin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2A08B8"/>
                </a:solidFill>
                <a:effectLst/>
                <a:uLnTx/>
                <a:uFillTx/>
                <a:latin typeface="Times New Roman" panose="02020603050405020304" pitchFamily="18" charset="0"/>
                <a:ea typeface="+mn-ea"/>
                <a:cs typeface="Times New Roman" panose="02020603050405020304" pitchFamily="18" charset="0"/>
              </a:rPr>
              <a:t> </a:t>
            </a:r>
            <a:endParaRPr kumimoji="0" lang="en-US"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pic>
        <p:nvPicPr>
          <p:cNvPr id="8" name="Picture 7"/>
          <p:cNvPicPr>
            <a:picLocks noChangeAspect="1"/>
          </p:cNvPicPr>
          <p:nvPr/>
        </p:nvPicPr>
        <p:blipFill>
          <a:blip r:embed="rId2"/>
          <a:stretch>
            <a:fillRect/>
          </a:stretch>
        </p:blipFill>
        <p:spPr>
          <a:xfrm>
            <a:off x="216535" y="332105"/>
            <a:ext cx="1399540" cy="782320"/>
          </a:xfrm>
          <a:prstGeom prst="rect">
            <a:avLst/>
          </a:prstGeom>
        </p:spPr>
      </p:pic>
      <p:pic>
        <p:nvPicPr>
          <p:cNvPr id="5" name="Picture 4"/>
          <p:cNvPicPr>
            <a:picLocks noChangeAspect="1"/>
          </p:cNvPicPr>
          <p:nvPr/>
        </p:nvPicPr>
        <p:blipFill>
          <a:blip r:embed="rId3"/>
          <a:stretch>
            <a:fillRect/>
          </a:stretch>
        </p:blipFill>
        <p:spPr>
          <a:xfrm>
            <a:off x="10476307" y="233492"/>
            <a:ext cx="1182293" cy="11241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4065" y="111968"/>
            <a:ext cx="10493375" cy="699796"/>
          </a:xfrm>
        </p:spPr>
        <p:txBody>
          <a:bodyPr>
            <a:normAutofit/>
          </a:bodyPr>
          <a:lstStyle/>
          <a:p>
            <a:r>
              <a:rPr lang="en-US" sz="3600" b="1" dirty="0">
                <a:effectLst/>
                <a:latin typeface="Times New Roman" panose="02020603050405020304" pitchFamily="18" charset="0"/>
                <a:cs typeface="Times New Roman" panose="02020603050405020304" pitchFamily="18" charset="0"/>
              </a:rPr>
              <a:t>AGENDA</a:t>
            </a:r>
          </a:p>
        </p:txBody>
      </p:sp>
      <p:sp>
        <p:nvSpPr>
          <p:cNvPr id="3" name="Subtitle 2"/>
          <p:cNvSpPr>
            <a:spLocks noGrp="1"/>
          </p:cNvSpPr>
          <p:nvPr>
            <p:ph idx="1"/>
          </p:nvPr>
        </p:nvSpPr>
        <p:spPr>
          <a:xfrm>
            <a:off x="774700" y="811763"/>
            <a:ext cx="10493375" cy="6223519"/>
          </a:xfrm>
        </p:spPr>
        <p:txBody>
          <a:bodyPr>
            <a:noAutofit/>
          </a:bodyPr>
          <a:lstStyle/>
          <a:p>
            <a:pPr>
              <a:lnSpc>
                <a:spcPct val="150000"/>
              </a:lnSpc>
              <a:spcBef>
                <a:spcPts val="600"/>
              </a:spcBef>
              <a:spcAft>
                <a:spcPts val="400"/>
              </a:spcAft>
              <a:buClr>
                <a:srgbClr val="47C3D3"/>
              </a:buClr>
              <a:buFont typeface="Wingdings" panose="05000000000000000000" pitchFamily="2" charset="2"/>
              <a:buChar char="Ø"/>
              <a:defRPr/>
            </a:pPr>
            <a:r>
              <a:rPr lang="en-IN" altLang="en-US" sz="2000" b="1" dirty="0">
                <a:solidFill>
                  <a:srgbClr val="00243A"/>
                </a:solidFill>
                <a:latin typeface="Times New Roman" panose="02020603050405020304" pitchFamily="18" charset="0"/>
                <a:ea typeface="Calibri" panose="020F0502020204030204" pitchFamily="34" charset="0"/>
                <a:cs typeface="Times New Roman" panose="02020603050405020304" pitchFamily="18" charset="0"/>
              </a:rPr>
              <a:t>ABSTRACT</a:t>
            </a:r>
          </a:p>
          <a:p>
            <a:pPr>
              <a:lnSpc>
                <a:spcPct val="150000"/>
              </a:lnSpc>
              <a:spcBef>
                <a:spcPts val="600"/>
              </a:spcBef>
              <a:spcAft>
                <a:spcPts val="400"/>
              </a:spcAft>
              <a:buClr>
                <a:srgbClr val="47C3D3"/>
              </a:buClr>
              <a:buFont typeface="Wingdings" panose="05000000000000000000" pitchFamily="2" charset="2"/>
              <a:buChar char="Ø"/>
              <a:defRPr/>
            </a:pPr>
            <a:r>
              <a:rPr lang="en-US" altLang="en-IN" sz="2000" b="1" dirty="0">
                <a:solidFill>
                  <a:srgbClr val="00243A"/>
                </a:solidFill>
                <a:latin typeface="Times New Roman" panose="02020603050405020304" pitchFamily="18" charset="0"/>
                <a:ea typeface="Calibri" panose="020F0502020204030204" pitchFamily="34" charset="0"/>
                <a:cs typeface="Times New Roman" panose="02020603050405020304" pitchFamily="18" charset="0"/>
              </a:rPr>
              <a:t>INTRODUCTION</a:t>
            </a:r>
          </a:p>
          <a:p>
            <a:pPr>
              <a:lnSpc>
                <a:spcPct val="150000"/>
              </a:lnSpc>
              <a:spcBef>
                <a:spcPts val="600"/>
              </a:spcBef>
              <a:spcAft>
                <a:spcPts val="400"/>
              </a:spcAft>
              <a:buClr>
                <a:srgbClr val="47C3D3"/>
              </a:buClr>
              <a:buFont typeface="Wingdings" panose="05000000000000000000" pitchFamily="2" charset="2"/>
              <a:buChar char="Ø"/>
              <a:defRPr/>
            </a:pPr>
            <a:r>
              <a:rPr lang="en-US" altLang="en-IN" sz="2000" b="1" dirty="0">
                <a:solidFill>
                  <a:srgbClr val="00243A"/>
                </a:solidFill>
                <a:latin typeface="Times New Roman" panose="02020603050405020304" pitchFamily="18" charset="0"/>
                <a:ea typeface="Calibri" panose="020F0502020204030204" pitchFamily="34" charset="0"/>
                <a:cs typeface="Times New Roman" panose="02020603050405020304" pitchFamily="18" charset="0"/>
              </a:rPr>
              <a:t>LITERATURE REVIEW</a:t>
            </a:r>
          </a:p>
          <a:p>
            <a:pPr>
              <a:lnSpc>
                <a:spcPct val="150000"/>
              </a:lnSpc>
              <a:spcBef>
                <a:spcPts val="600"/>
              </a:spcBef>
              <a:spcAft>
                <a:spcPts val="400"/>
              </a:spcAft>
              <a:buClr>
                <a:srgbClr val="47C3D3"/>
              </a:buClr>
              <a:buFont typeface="Wingdings" panose="05000000000000000000" pitchFamily="2" charset="2"/>
              <a:buChar char="Ø"/>
              <a:defRPr/>
            </a:pPr>
            <a:r>
              <a:rPr lang="en-US" sz="2000" b="1" dirty="0">
                <a:latin typeface="Times New Roman" panose="02020603050405020304" pitchFamily="18" charset="0"/>
                <a:cs typeface="Times New Roman" panose="02020603050405020304" pitchFamily="18" charset="0"/>
              </a:rPr>
              <a:t>FUNCTIONAL AND NON-FUNCTIONAL REQUIREMENTS</a:t>
            </a:r>
            <a:endParaRPr lang="en-US" altLang="en-IN" sz="2000" b="1" dirty="0">
              <a:solidFill>
                <a:srgbClr val="00243A"/>
              </a:solidFill>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Bef>
                <a:spcPts val="600"/>
              </a:spcBef>
              <a:spcAft>
                <a:spcPts val="400"/>
              </a:spcAft>
              <a:buClr>
                <a:srgbClr val="47C3D3"/>
              </a:buClr>
              <a:buFont typeface="Wingdings" panose="05000000000000000000" pitchFamily="2" charset="2"/>
              <a:buChar char="Ø"/>
              <a:defRPr/>
            </a:pPr>
            <a:r>
              <a:rPr lang="en-US" sz="2000" b="1" dirty="0">
                <a:latin typeface="Times New Roman" panose="02020603050405020304" pitchFamily="18" charset="0"/>
                <a:cs typeface="Times New Roman" panose="02020603050405020304" pitchFamily="18" charset="0"/>
              </a:rPr>
              <a:t>SOFTWARE AND HARDWARE REQUIREMENTS</a:t>
            </a:r>
            <a:endParaRPr lang="en-US" altLang="en-IN" sz="2000" b="1" dirty="0">
              <a:solidFill>
                <a:srgbClr val="00243A"/>
              </a:solidFill>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Bef>
                <a:spcPts val="600"/>
              </a:spcBef>
              <a:spcAft>
                <a:spcPts val="400"/>
              </a:spcAft>
              <a:buClr>
                <a:srgbClr val="47C3D3"/>
              </a:buClr>
              <a:buFont typeface="Wingdings" panose="05000000000000000000" pitchFamily="2" charset="2"/>
              <a:buChar char="Ø"/>
              <a:defRPr/>
            </a:pPr>
            <a:r>
              <a:rPr lang="en-US" sz="2000" b="1" dirty="0">
                <a:latin typeface="Times New Roman" panose="02020603050405020304" pitchFamily="18" charset="0"/>
                <a:cs typeface="Times New Roman" panose="02020603050405020304" pitchFamily="18" charset="0"/>
              </a:rPr>
              <a:t>UML DIAGRAMS</a:t>
            </a:r>
          </a:p>
          <a:p>
            <a:pPr>
              <a:lnSpc>
                <a:spcPct val="150000"/>
              </a:lnSpc>
              <a:spcBef>
                <a:spcPts val="600"/>
              </a:spcBef>
              <a:spcAft>
                <a:spcPts val="400"/>
              </a:spcAft>
              <a:buClr>
                <a:srgbClr val="47C3D3"/>
              </a:buClr>
              <a:buFont typeface="Wingdings" panose="05000000000000000000" pitchFamily="2" charset="2"/>
              <a:buChar char="Ø"/>
              <a:defRPr/>
            </a:pPr>
            <a:r>
              <a:rPr lang="en-IN" sz="2000" b="1" dirty="0">
                <a:latin typeface="Times New Roman" panose="02020603050405020304" pitchFamily="18" charset="0"/>
                <a:cs typeface="Times New Roman" panose="02020603050405020304" pitchFamily="18" charset="0"/>
              </a:rPr>
              <a:t>SYSTEM DESIGN</a:t>
            </a:r>
          </a:p>
          <a:p>
            <a:pPr>
              <a:lnSpc>
                <a:spcPct val="150000"/>
              </a:lnSpc>
              <a:spcBef>
                <a:spcPts val="600"/>
              </a:spcBef>
              <a:spcAft>
                <a:spcPts val="400"/>
              </a:spcAft>
              <a:buClr>
                <a:srgbClr val="47C3D3"/>
              </a:buClr>
              <a:buFont typeface="Wingdings" panose="05000000000000000000" pitchFamily="2" charset="2"/>
              <a:buChar char="Ø"/>
              <a:defRPr/>
            </a:pPr>
            <a:r>
              <a:rPr lang="en-US" sz="2000" b="1" dirty="0">
                <a:latin typeface="Times New Roman" panose="02020603050405020304" pitchFamily="18" charset="0"/>
                <a:cs typeface="Times New Roman" panose="02020603050405020304" pitchFamily="18" charset="0"/>
              </a:rPr>
              <a:t>IMPLEMENTATION</a:t>
            </a:r>
          </a:p>
          <a:p>
            <a:pPr>
              <a:lnSpc>
                <a:spcPct val="100000"/>
              </a:lnSpc>
              <a:spcBef>
                <a:spcPts val="600"/>
              </a:spcBef>
              <a:spcAft>
                <a:spcPts val="400"/>
              </a:spcAft>
              <a:buClr>
                <a:srgbClr val="47C3D3"/>
              </a:buClr>
              <a:buFont typeface="Wingdings" panose="05000000000000000000" pitchFamily="2" charset="2"/>
              <a:buChar char="Ø"/>
              <a:defRPr/>
            </a:pPr>
            <a:r>
              <a:rPr lang="en-IN" sz="2000" b="1" dirty="0">
                <a:latin typeface="Times New Roman" panose="02020603050405020304" pitchFamily="18" charset="0"/>
                <a:cs typeface="Times New Roman" panose="02020603050405020304" pitchFamily="18" charset="0"/>
              </a:rPr>
              <a:t>OUTPUT SCREENS</a:t>
            </a:r>
          </a:p>
          <a:p>
            <a:pPr>
              <a:lnSpc>
                <a:spcPct val="150000"/>
              </a:lnSpc>
              <a:spcBef>
                <a:spcPts val="600"/>
              </a:spcBef>
              <a:spcAft>
                <a:spcPts val="400"/>
              </a:spcAft>
              <a:buClr>
                <a:srgbClr val="47C3D3"/>
              </a:buClr>
              <a:buFont typeface="Wingdings" panose="05000000000000000000" pitchFamily="2" charset="2"/>
              <a:buChar char="Ø"/>
              <a:defRPr/>
            </a:pPr>
            <a:r>
              <a:rPr lang="en-IN" sz="2000" b="1" dirty="0">
                <a:latin typeface="Times New Roman" panose="02020603050405020304" pitchFamily="18" charset="0"/>
                <a:cs typeface="Times New Roman" panose="02020603050405020304" pitchFamily="18" charset="0"/>
              </a:rPr>
              <a:t>CONCLUSION</a:t>
            </a:r>
          </a:p>
          <a:p>
            <a:pPr marL="0" indent="0">
              <a:lnSpc>
                <a:spcPct val="100000"/>
              </a:lnSpc>
              <a:spcBef>
                <a:spcPts val="600"/>
              </a:spcBef>
              <a:spcAft>
                <a:spcPts val="400"/>
              </a:spcAft>
              <a:buClr>
                <a:srgbClr val="47C3D3"/>
              </a:buClr>
              <a:buNone/>
              <a:defRPr/>
            </a:pPr>
            <a:endParaRPr lang="en-IN" altLang="en-US" sz="2000" b="1" dirty="0">
              <a:solidFill>
                <a:srgbClr val="00243A"/>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0000"/>
              </a:lnSpc>
              <a:spcBef>
                <a:spcPts val="600"/>
              </a:spcBef>
              <a:spcAft>
                <a:spcPts val="400"/>
              </a:spcAft>
              <a:buClr>
                <a:srgbClr val="47C3D3"/>
              </a:buClr>
              <a:buFont typeface="Wingdings" panose="05000000000000000000" pitchFamily="2" charset="2"/>
              <a:buNone/>
              <a:defRPr/>
            </a:pPr>
            <a:r>
              <a:rPr lang="en-IN" altLang="en-US" sz="2000" b="1"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rPr>
              <a:t>CCONC</a:t>
            </a:r>
            <a:endParaRPr lang="en-US" sz="2000" b="1"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600"/>
              </a:spcBef>
              <a:spcAft>
                <a:spcPts val="400"/>
              </a:spcAft>
              <a:buClr>
                <a:srgbClr val="47C3D3"/>
              </a:buClr>
              <a:buSzTx/>
              <a:buNone/>
              <a:defRPr/>
            </a:pPr>
            <a:endParaRPr kumimoji="0" lang="en-US" sz="2000" b="1" i="0" u="none" strike="noStrike" kern="120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Calibri" panose="020F0502020204030204" pitchFamily="34" charset="0"/>
            </a:endParaRPr>
          </a:p>
          <a:p>
            <a:pPr marL="342900" marR="0" lvl="0" indent="-342900" algn="just" defTabSz="914400" rtl="0" eaLnBrk="1" fontAlgn="auto" latinLnBrk="0" hangingPunct="1">
              <a:lnSpc>
                <a:spcPct val="100000"/>
              </a:lnSpc>
              <a:spcBef>
                <a:spcPts val="1000"/>
              </a:spcBef>
              <a:spcAft>
                <a:spcPts val="0"/>
              </a:spcAft>
              <a:buClrTx/>
              <a:buSzTx/>
              <a:buFont typeface="Arial" panose="020B0604020202020204" pitchFamily="34" charset="0"/>
              <a:buChar char="•"/>
              <a:defRPr/>
            </a:pPr>
            <a:endParaRPr kumimoji="0" lang="en-US" sz="2000" b="0" i="0" u="none" strike="noStrike" kern="1200" cap="none" spc="0" normalizeH="0" baseline="0" noProof="0" dirty="0">
              <a:ln>
                <a:noFill/>
              </a:ln>
              <a:solidFill>
                <a:prstClr val="white"/>
              </a:solidFill>
              <a:effectLst>
                <a:outerShdw blurRad="50800" dist="38100" dir="2700000" algn="tl" rotWithShape="0">
                  <a:srgbClr val="000000">
                    <a:alpha val="48000"/>
                  </a:srgbClr>
                </a:outerShdw>
              </a:effectLst>
              <a:uLnTx/>
              <a:uFillTx/>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8840" y="782955"/>
            <a:ext cx="3312160" cy="622300"/>
          </a:xfrm>
        </p:spPr>
        <p:txBody>
          <a:bodyPr>
            <a:normAutofit fontScale="90000"/>
          </a:bodyPr>
          <a:lstStyle/>
          <a:p>
            <a:r>
              <a:rPr lang="en-IN" altLang="en-US" sz="3110" b="1" dirty="0">
                <a:effectLst/>
                <a:latin typeface="Times New Roman" panose="02020603050405020304" pitchFamily="18" charset="0"/>
                <a:cs typeface="Times New Roman" panose="02020603050405020304" pitchFamily="18" charset="0"/>
              </a:rPr>
              <a:t> </a:t>
            </a:r>
            <a:r>
              <a:rPr lang="en-IN" altLang="en-US" sz="3600" b="1" dirty="0">
                <a:effectLst/>
                <a:latin typeface="Times New Roman" panose="02020603050405020304" pitchFamily="18" charset="0"/>
                <a:cs typeface="Times New Roman" panose="02020603050405020304" pitchFamily="18" charset="0"/>
              </a:rPr>
              <a:t>ABSTRACT</a:t>
            </a:r>
            <a:br>
              <a:rPr lang="en-IN" altLang="en-US" sz="3110" b="1" dirty="0">
                <a:effectLst/>
                <a:latin typeface="Times New Roman" panose="02020603050405020304" pitchFamily="18" charset="0"/>
                <a:cs typeface="Times New Roman" panose="02020603050405020304" pitchFamily="18" charset="0"/>
              </a:rPr>
            </a:br>
            <a:endParaRPr lang="en-IN" altLang="en-US" sz="3110" b="1" dirty="0">
              <a:effectLst/>
              <a:latin typeface="Times New Roman" panose="02020603050405020304" pitchFamily="18" charset="0"/>
              <a:cs typeface="Times New Roman" panose="02020603050405020304" pitchFamily="18" charset="0"/>
            </a:endParaRPr>
          </a:p>
        </p:txBody>
      </p:sp>
      <p:sp>
        <p:nvSpPr>
          <p:cNvPr id="3" name="Subtitle 2"/>
          <p:cNvSpPr>
            <a:spLocks noGrp="1"/>
          </p:cNvSpPr>
          <p:nvPr>
            <p:ph idx="1"/>
          </p:nvPr>
        </p:nvSpPr>
        <p:spPr>
          <a:xfrm>
            <a:off x="878840" y="1207770"/>
            <a:ext cx="10353675" cy="4895850"/>
          </a:xfrm>
        </p:spPr>
        <p:txBody>
          <a:bodyPr>
            <a:no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Developing new medicines is expensive and time-consuming, especially when unexpected side effects show up during testing. These side effects can be harmful and cause the drug to fail, wasting time and money. To help solve this, our project uses a deep learning system called DeepSide to predict possible side effects of drugs before they reach the testing phase.</a:t>
            </a:r>
          </a:p>
          <a:p>
            <a:pPr marL="0" indent="0" algn="just">
              <a:lnSpc>
                <a:spcPct val="150000"/>
              </a:lnSpc>
              <a:buNone/>
            </a:pPr>
            <a:r>
              <a:rPr lang="en-US" sz="2000" dirty="0">
                <a:latin typeface="Times New Roman" panose="02020603050405020304" pitchFamily="18" charset="0"/>
                <a:cs typeface="Times New Roman" panose="02020603050405020304" pitchFamily="18" charset="0"/>
              </a:rPr>
              <a:t>We used a large public dataset that includes how different drugs affect genes in human cells. By combining this information with the chemical structure of drugs, we trained several AI models. Among them, a special model using SMILES (a text format that describes molecules) worked the best and gave more accurate predictions than older methods.</a:t>
            </a:r>
          </a:p>
          <a:p>
            <a:pPr marL="0" indent="0" algn="just">
              <a:lnSpc>
                <a:spcPct val="150000"/>
              </a:lnSpc>
              <a:buNone/>
            </a:pPr>
            <a:r>
              <a:rPr lang="en-US" sz="2000" dirty="0">
                <a:latin typeface="Times New Roman" panose="02020603050405020304" pitchFamily="18" charset="0"/>
                <a:cs typeface="Times New Roman" panose="02020603050405020304" pitchFamily="18" charset="0"/>
              </a:rPr>
              <a:t>This system helps researchers identify dangerous side effects early, improving drug safety and saving development costs..</a:t>
            </a:r>
            <a:endParaRPr kumimoji="0" lang="en-IN" altLang="en-US" sz="2000" b="0" i="0" u="none" strike="noStrike" kern="1200" cap="none" spc="0" normalizeH="0" baseline="0" noProof="0" dirty="0">
              <a:ln>
                <a:noFill/>
              </a:ln>
              <a:uLnTx/>
              <a:uFillTx/>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3040"/>
            <a:ext cx="10515600" cy="701040"/>
          </a:xfrm>
        </p:spPr>
        <p:txBody>
          <a:bodyPr>
            <a:normAutofit/>
          </a:bodyPr>
          <a:lstStyle/>
          <a:p>
            <a:r>
              <a:rPr lang="en-US" sz="3200" b="1"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838200" y="754380"/>
            <a:ext cx="10515600" cy="5532120"/>
          </a:xfrm>
        </p:spPr>
        <p:txBody>
          <a:bodyPr>
            <a:noAutofit/>
          </a:bodyPr>
          <a:lstStyle/>
          <a:p>
            <a:pPr marL="0" lvl="1" indent="457200" algn="just">
              <a:lnSpc>
                <a:spcPct val="150000"/>
              </a:lnSpc>
              <a:buNone/>
            </a:pPr>
            <a:r>
              <a:rPr lang="en-US" sz="2000" dirty="0">
                <a:latin typeface="Times New Roman" panose="02020603050405020304" pitchFamily="18" charset="0"/>
                <a:cs typeface="Times New Roman" panose="02020603050405020304" pitchFamily="18" charset="0"/>
                <a:sym typeface="+mn-ea"/>
              </a:rPr>
              <a:t>Making new medicines is a long and costly process. One big problem is that some drugs may cause harmful side effects that are not found until very late, sometimes even after people start using them. This can be dangerous and leads to failure of the </a:t>
            </a:r>
            <a:r>
              <a:rPr lang="en-US" sz="2000" dirty="0" err="1">
                <a:latin typeface="Times New Roman" panose="02020603050405020304" pitchFamily="18" charset="0"/>
                <a:cs typeface="Times New Roman" panose="02020603050405020304" pitchFamily="18" charset="0"/>
                <a:sym typeface="+mn-ea"/>
              </a:rPr>
              <a:t>drug.</a:t>
            </a:r>
            <a:r>
              <a:rPr lang="en-US" sz="2000" dirty="0" err="1">
                <a:latin typeface="Times New Roman" panose="02020603050405020304" pitchFamily="18" charset="0"/>
                <a:cs typeface="Times New Roman" panose="02020603050405020304" pitchFamily="18" charset="0"/>
              </a:rPr>
              <a:t>To</a:t>
            </a:r>
            <a:r>
              <a:rPr lang="en-US" sz="2000" dirty="0">
                <a:latin typeface="Times New Roman" panose="02020603050405020304" pitchFamily="18" charset="0"/>
                <a:cs typeface="Times New Roman" panose="02020603050405020304" pitchFamily="18" charset="0"/>
              </a:rPr>
              <a:t> avoid this, researchers are now using computers and artificial intelligence to predict side effects early—before testing on humans.</a:t>
            </a:r>
          </a:p>
          <a:p>
            <a:pPr marL="0" indent="457200" algn="just">
              <a:lnSpc>
                <a:spcPct val="150000"/>
              </a:lnSpc>
              <a:buNone/>
            </a:pPr>
            <a:r>
              <a:rPr lang="en-US" sz="2000" dirty="0">
                <a:latin typeface="Times New Roman" panose="02020603050405020304" pitchFamily="18" charset="0"/>
                <a:cs typeface="Times New Roman" panose="02020603050405020304" pitchFamily="18" charset="0"/>
              </a:rPr>
              <a:t>In this project, we created a system called </a:t>
            </a:r>
            <a:r>
              <a:rPr lang="en-US" sz="2000" dirty="0" err="1">
                <a:latin typeface="Times New Roman" panose="02020603050405020304" pitchFamily="18" charset="0"/>
                <a:cs typeface="Times New Roman" panose="02020603050405020304" pitchFamily="18" charset="0"/>
              </a:rPr>
              <a:t>DeepSide</a:t>
            </a:r>
            <a:r>
              <a:rPr lang="en-US" sz="2000" dirty="0">
                <a:latin typeface="Times New Roman" panose="02020603050405020304" pitchFamily="18" charset="0"/>
                <a:cs typeface="Times New Roman" panose="02020603050405020304" pitchFamily="18" charset="0"/>
              </a:rPr>
              <a:t>. It uses deep learning (a smart AI technique) to make better predictions by </a:t>
            </a:r>
            <a:r>
              <a:rPr lang="en-US" sz="2000" dirty="0" err="1">
                <a:latin typeface="Times New Roman" panose="02020603050405020304" pitchFamily="18" charset="0"/>
                <a:cs typeface="Times New Roman" panose="02020603050405020304" pitchFamily="18" charset="0"/>
              </a:rPr>
              <a:t>combining:Gene</a:t>
            </a:r>
            <a:r>
              <a:rPr lang="en-US" sz="2000" dirty="0">
                <a:latin typeface="Times New Roman" panose="02020603050405020304" pitchFamily="18" charset="0"/>
                <a:cs typeface="Times New Roman" panose="02020603050405020304" pitchFamily="18" charset="0"/>
              </a:rPr>
              <a:t> expression data (how cells react to the drug), and Chemical structure of the drug .</a:t>
            </a:r>
          </a:p>
          <a:p>
            <a:pPr marL="0" indent="457200" algn="just">
              <a:lnSpc>
                <a:spcPct val="150000"/>
              </a:lnSpc>
              <a:buNone/>
            </a:pPr>
            <a:r>
              <a:rPr lang="en-US" sz="2000" dirty="0">
                <a:latin typeface="Times New Roman" panose="02020603050405020304" pitchFamily="18" charset="0"/>
                <a:cs typeface="Times New Roman" panose="02020603050405020304" pitchFamily="18" charset="0"/>
              </a:rPr>
              <a:t>We used a big dataset called LINCS L1000, which has results from many lab tests on how drugs affect different types of human cells. We also used another dataset, SIDER, to check if our predictions were </a:t>
            </a:r>
            <a:r>
              <a:rPr lang="en-US" sz="2000" dirty="0" err="1">
                <a:latin typeface="Times New Roman" panose="02020603050405020304" pitchFamily="18" charset="0"/>
                <a:cs typeface="Times New Roman" panose="02020603050405020304" pitchFamily="18" charset="0"/>
              </a:rPr>
              <a:t>correct.We</a:t>
            </a:r>
            <a:r>
              <a:rPr lang="en-US" sz="2000" dirty="0">
                <a:latin typeface="Times New Roman" panose="02020603050405020304" pitchFamily="18" charset="0"/>
                <a:cs typeface="Times New Roman" panose="02020603050405020304" pitchFamily="18" charset="0"/>
              </a:rPr>
              <a:t> tested five deep learning models, and found that one using the SMILES format (a way to describe chemical structures) gave the best </a:t>
            </a:r>
            <a:r>
              <a:rPr lang="en-US" sz="2000" dirty="0" err="1">
                <a:latin typeface="Times New Roman" panose="02020603050405020304" pitchFamily="18" charset="0"/>
                <a:cs typeface="Times New Roman" panose="02020603050405020304" pitchFamily="18" charset="0"/>
              </a:rPr>
              <a:t>results.Our</a:t>
            </a:r>
            <a:r>
              <a:rPr lang="en-US" sz="2000" dirty="0">
                <a:latin typeface="Times New Roman" panose="02020603050405020304" pitchFamily="18" charset="0"/>
                <a:cs typeface="Times New Roman" panose="02020603050405020304" pitchFamily="18" charset="0"/>
              </a:rPr>
              <a:t> goal is to help scientists find harmful side effects early and make drug development safer and faster.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1635"/>
            <a:ext cx="10515600" cy="683260"/>
          </a:xfrm>
        </p:spPr>
        <p:txBody>
          <a:bodyPr>
            <a:normAutofit/>
          </a:bodyPr>
          <a:lstStyle/>
          <a:p>
            <a:r>
              <a:rPr lang="en-US" sz="3200" b="1" dirty="0">
                <a:latin typeface="Times New Roman" panose="02020603050405020304" pitchFamily="18" charset="0"/>
                <a:cs typeface="Times New Roman" panose="02020603050405020304" pitchFamily="18" charset="0"/>
              </a:rPr>
              <a:t>LITERATURE REVIEW</a:t>
            </a:r>
          </a:p>
        </p:txBody>
      </p:sp>
      <p:graphicFrame>
        <p:nvGraphicFramePr>
          <p:cNvPr id="5" name="Content Placeholder 4"/>
          <p:cNvGraphicFramePr>
            <a:graphicFrameLocks noGrp="1"/>
          </p:cNvGraphicFramePr>
          <p:nvPr>
            <p:ph idx="1"/>
          </p:nvPr>
        </p:nvGraphicFramePr>
        <p:xfrm>
          <a:off x="946785" y="1270635"/>
          <a:ext cx="10407015" cy="4572000"/>
        </p:xfrm>
        <a:graphic>
          <a:graphicData uri="http://schemas.openxmlformats.org/drawingml/2006/table">
            <a:tbl>
              <a:tblPr firstRow="1" bandRow="1">
                <a:tableStyleId>{5C22544A-7EE6-4342-B048-85BDC9FD1C3A}</a:tableStyleId>
              </a:tblPr>
              <a:tblGrid>
                <a:gridCol w="1243330">
                  <a:extLst>
                    <a:ext uri="{9D8B030D-6E8A-4147-A177-3AD203B41FA5}">
                      <a16:colId xmlns:a16="http://schemas.microsoft.com/office/drawing/2014/main" val="20000"/>
                    </a:ext>
                  </a:extLst>
                </a:gridCol>
                <a:gridCol w="1219835">
                  <a:extLst>
                    <a:ext uri="{9D8B030D-6E8A-4147-A177-3AD203B41FA5}">
                      <a16:colId xmlns:a16="http://schemas.microsoft.com/office/drawing/2014/main" val="20001"/>
                    </a:ext>
                  </a:extLst>
                </a:gridCol>
                <a:gridCol w="932815">
                  <a:extLst>
                    <a:ext uri="{9D8B030D-6E8A-4147-A177-3AD203B41FA5}">
                      <a16:colId xmlns:a16="http://schemas.microsoft.com/office/drawing/2014/main" val="20002"/>
                    </a:ext>
                  </a:extLst>
                </a:gridCol>
                <a:gridCol w="1272540">
                  <a:extLst>
                    <a:ext uri="{9D8B030D-6E8A-4147-A177-3AD203B41FA5}">
                      <a16:colId xmlns:a16="http://schemas.microsoft.com/office/drawing/2014/main" val="20003"/>
                    </a:ext>
                  </a:extLst>
                </a:gridCol>
                <a:gridCol w="1751965">
                  <a:extLst>
                    <a:ext uri="{9D8B030D-6E8A-4147-A177-3AD203B41FA5}">
                      <a16:colId xmlns:a16="http://schemas.microsoft.com/office/drawing/2014/main" val="20004"/>
                    </a:ext>
                  </a:extLst>
                </a:gridCol>
                <a:gridCol w="2171065">
                  <a:extLst>
                    <a:ext uri="{9D8B030D-6E8A-4147-A177-3AD203B41FA5}">
                      <a16:colId xmlns:a16="http://schemas.microsoft.com/office/drawing/2014/main" val="20005"/>
                    </a:ext>
                  </a:extLst>
                </a:gridCol>
                <a:gridCol w="1815465">
                  <a:extLst>
                    <a:ext uri="{9D8B030D-6E8A-4147-A177-3AD203B41FA5}">
                      <a16:colId xmlns:a16="http://schemas.microsoft.com/office/drawing/2014/main" val="20006"/>
                    </a:ext>
                  </a:extLst>
                </a:gridCol>
              </a:tblGrid>
              <a:tr h="914400">
                <a:tc>
                  <a:txBody>
                    <a:bodyPr/>
                    <a:lstStyle/>
                    <a:p>
                      <a:pPr>
                        <a:buNone/>
                      </a:pPr>
                      <a:r>
                        <a:rPr lang="en-US"/>
                        <a:t>Title</a:t>
                      </a:r>
                    </a:p>
                  </a:txBody>
                  <a:tcPr/>
                </a:tc>
                <a:tc>
                  <a:txBody>
                    <a:bodyPr/>
                    <a:lstStyle/>
                    <a:p>
                      <a:pPr>
                        <a:buNone/>
                      </a:pPr>
                      <a:r>
                        <a:rPr lang="en-US"/>
                        <a:t>Authors</a:t>
                      </a:r>
                    </a:p>
                  </a:txBody>
                  <a:tcPr/>
                </a:tc>
                <a:tc>
                  <a:txBody>
                    <a:bodyPr/>
                    <a:lstStyle/>
                    <a:p>
                      <a:pPr>
                        <a:buNone/>
                      </a:pPr>
                      <a:r>
                        <a:rPr lang="en-US"/>
                        <a:t>Source</a:t>
                      </a:r>
                    </a:p>
                  </a:txBody>
                  <a:tcPr/>
                </a:tc>
                <a:tc>
                  <a:txBody>
                    <a:bodyPr/>
                    <a:lstStyle/>
                    <a:p>
                      <a:pPr>
                        <a:buNone/>
                      </a:pPr>
                      <a:r>
                        <a:rPr lang="en-US"/>
                        <a:t>Citation</a:t>
                      </a:r>
                    </a:p>
                  </a:txBody>
                  <a:tcPr/>
                </a:tc>
                <a:tc>
                  <a:txBody>
                    <a:bodyPr/>
                    <a:lstStyle/>
                    <a:p>
                      <a:pPr>
                        <a:buNone/>
                      </a:pPr>
                      <a:r>
                        <a:rPr lang="en-US"/>
                        <a:t>Methodology</a:t>
                      </a:r>
                    </a:p>
                  </a:txBody>
                  <a:tcPr/>
                </a:tc>
                <a:tc>
                  <a:txBody>
                    <a:bodyPr/>
                    <a:lstStyle/>
                    <a:p>
                      <a:pPr>
                        <a:buNone/>
                      </a:pPr>
                      <a:r>
                        <a:rPr lang="en-US"/>
                        <a:t>Results</a:t>
                      </a:r>
                    </a:p>
                  </a:txBody>
                  <a:tcPr/>
                </a:tc>
                <a:tc>
                  <a:txBody>
                    <a:bodyPr/>
                    <a:lstStyle/>
                    <a:p>
                      <a:pPr>
                        <a:buNone/>
                      </a:pPr>
                      <a:r>
                        <a:rPr lang="en-US"/>
                        <a:t>Future Enhancements</a:t>
                      </a:r>
                    </a:p>
                  </a:txBody>
                  <a:tcPr/>
                </a:tc>
                <a:extLst>
                  <a:ext uri="{0D108BD9-81ED-4DB2-BD59-A6C34878D82A}">
                    <a16:rowId xmlns:a16="http://schemas.microsoft.com/office/drawing/2014/main" val="10000"/>
                  </a:ext>
                </a:extLst>
              </a:tr>
              <a:tr h="3633470">
                <a:tc>
                  <a:txBody>
                    <a:bodyPr/>
                    <a:lstStyle/>
                    <a:p>
                      <a:pPr>
                        <a:buNone/>
                      </a:pPr>
                      <a:r>
                        <a:rPr lang="en-US"/>
                        <a:t>Deepside: A Deep Learning Framework for Drug Side Effect Prediction</a:t>
                      </a:r>
                    </a:p>
                  </a:txBody>
                  <a:tcPr/>
                </a:tc>
                <a:tc>
                  <a:txBody>
                    <a:bodyPr/>
                    <a:lstStyle/>
                    <a:p>
                      <a:pPr>
                        <a:buNone/>
                      </a:pPr>
                      <a:r>
                        <a:rPr lang="en-US"/>
                        <a:t>Vaddi Srivallidevi, Sk. Ruhi</a:t>
                      </a:r>
                    </a:p>
                  </a:txBody>
                  <a:tcPr/>
                </a:tc>
                <a:tc>
                  <a:txBody>
                    <a:bodyPr/>
                    <a:lstStyle/>
                    <a:p>
                      <a:pPr>
                        <a:buNone/>
                      </a:pPr>
                      <a:r>
                        <a:rPr lang="en-US"/>
                        <a:t>Sciencedirect Volume 14, Issue 05, May 2024, </a:t>
                      </a:r>
                    </a:p>
                  </a:txBody>
                  <a:tcPr/>
                </a:tc>
                <a:tc>
                  <a:txBody>
                    <a:bodyPr/>
                    <a:lstStyle/>
                    <a:p>
                      <a:pPr>
                        <a:buNone/>
                      </a:pPr>
                      <a:r>
                        <a:rPr lang="en-US"/>
                        <a:t>Srivallidevi, V., &amp; Ruhi, (2024). Deepside. Volume 14, Issue 05, May 2024.</a:t>
                      </a:r>
                    </a:p>
                  </a:txBody>
                  <a:tcPr/>
                </a:tc>
                <a:tc>
                  <a:txBody>
                    <a:bodyPr/>
                    <a:lstStyle/>
                    <a:p>
                      <a:pPr>
                        <a:buNone/>
                      </a:pPr>
                      <a:r>
                        <a:rPr lang="en-US"/>
                        <a:t>Used full LINCS L1000 dataset; evaluated MLPs and CNNs; multi-model input (CS + GEX); SMILES for CNN input; metrics: accuracy, precision, recall, macro-/micro-AUC.</a:t>
                      </a:r>
                    </a:p>
                  </a:txBody>
                  <a:tcPr/>
                </a:tc>
                <a:tc>
                  <a:txBody>
                    <a:bodyPr/>
                    <a:lstStyle/>
                    <a:p>
                      <a:pPr>
                        <a:buNone/>
                      </a:pPr>
                      <a:r>
                        <a:rPr lang="en-US"/>
                        <a:t>CNN with SMILES showed 13.0% macro-AUC and 3.1% micro-AUC gain; multi-model MLPs (CS + GEX) best among MLPs; CS more informative than GEX; model predicted previously undocumented but literature-supported side effects.</a:t>
                      </a:r>
                    </a:p>
                  </a:txBody>
                  <a:tcPr/>
                </a:tc>
                <a:tc>
                  <a:txBody>
                    <a:bodyPr/>
                    <a:lstStyle/>
                    <a:p>
                      <a:pPr>
                        <a:buNone/>
                      </a:pPr>
                      <a:r>
                        <a:rPr lang="en-US"/>
                        <a:t>Extend to new datasets; personalize predictions for patient-level efficacy; integrate into clinical decision systems for real-world personalized treatment guidance.</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A4B03-FCBA-2CDD-4C56-2485561FFAF4}"/>
              </a:ext>
            </a:extLst>
          </p:cNvPr>
          <p:cNvSpPr>
            <a:spLocks noGrp="1"/>
          </p:cNvSpPr>
          <p:nvPr>
            <p:ph type="title"/>
          </p:nvPr>
        </p:nvSpPr>
        <p:spPr>
          <a:xfrm>
            <a:off x="933061" y="365125"/>
            <a:ext cx="11178073" cy="633251"/>
          </a:xfrm>
        </p:spPr>
        <p:txBody>
          <a:bodyPr>
            <a:normAutofit/>
          </a:bodyPr>
          <a:lstStyle/>
          <a:p>
            <a:r>
              <a:rPr lang="en-US" sz="3200" b="1" dirty="0">
                <a:latin typeface="Times New Roman" panose="02020603050405020304" pitchFamily="18" charset="0"/>
                <a:cs typeface="Times New Roman" panose="02020603050405020304" pitchFamily="18" charset="0"/>
              </a:rPr>
              <a:t>FUNCTIONAL AND NON-FUNCTIONAL REQUIREMENTS</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FE4875E-BE99-752F-5BEF-F96B19E50521}"/>
              </a:ext>
            </a:extLst>
          </p:cNvPr>
          <p:cNvSpPr>
            <a:spLocks noGrp="1"/>
          </p:cNvSpPr>
          <p:nvPr>
            <p:ph idx="1"/>
          </p:nvPr>
        </p:nvSpPr>
        <p:spPr>
          <a:xfrm>
            <a:off x="838200" y="998376"/>
            <a:ext cx="10515600" cy="5178587"/>
          </a:xfrm>
        </p:spPr>
        <p:txBody>
          <a:bodyPr>
            <a:normAutofit/>
          </a:bodyPr>
          <a:lstStyle/>
          <a:p>
            <a:pPr marL="0" indent="0">
              <a:buNone/>
            </a:pPr>
            <a:r>
              <a:rPr lang="en-US" b="1" dirty="0"/>
              <a:t> </a:t>
            </a:r>
            <a:r>
              <a:rPr lang="en-US" b="1" dirty="0">
                <a:latin typeface="Times New Roman" panose="02020603050405020304" pitchFamily="18" charset="0"/>
                <a:cs typeface="Times New Roman" panose="02020603050405020304" pitchFamily="18" charset="0"/>
              </a:rPr>
              <a:t>Functional Requirements:</a:t>
            </a:r>
            <a:endParaRPr lang="en-IN"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Accept chemical structure data (e.g., SMILES strings, molecular fingerprints).</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Train deep learning models (MLP, </a:t>
            </a:r>
            <a:r>
              <a:rPr lang="en-US" sz="2000" dirty="0" err="1">
                <a:latin typeface="Times New Roman" panose="02020603050405020304" pitchFamily="18" charset="0"/>
                <a:cs typeface="Times New Roman" panose="02020603050405020304" pitchFamily="18" charset="0"/>
              </a:rPr>
              <a:t>ResMLP</a:t>
            </a:r>
            <a:r>
              <a:rPr lang="en-US" sz="2000" dirty="0">
                <a:latin typeface="Times New Roman" panose="02020603050405020304" pitchFamily="18" charset="0"/>
                <a:cs typeface="Times New Roman" panose="02020603050405020304" pitchFamily="18" charset="0"/>
              </a:rPr>
              <a:t>, MMNN, MTNN).</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Predict probability scores for multiple side effects per drug</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Fuse multi-modal inputs using concatenation or summation strategies.</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Generate side effect predictions with confidence scores.</a:t>
            </a:r>
            <a:endParaRPr lang="en-IN" sz="2000"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Non-Functional Requirements:</a:t>
            </a:r>
            <a:endParaRPr lang="en-IN"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Handle large-scale drug datasets with high-dimensional input features</a:t>
            </a:r>
            <a:r>
              <a:rPr lang="en-US" sz="2000" b="1"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Optimize for both training speed and prediction accuracy.</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Provide a user-friendly interface or API for researchers or developers.</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Batch processing of drug data</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Easy-to-use CLI for researchers</a:t>
            </a:r>
            <a:endParaRPr lang="en-IN"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436409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815E0-1C9D-939C-135C-064150C8C9BB}"/>
              </a:ext>
            </a:extLst>
          </p:cNvPr>
          <p:cNvSpPr>
            <a:spLocks noGrp="1"/>
          </p:cNvSpPr>
          <p:nvPr>
            <p:ph type="title"/>
          </p:nvPr>
        </p:nvSpPr>
        <p:spPr>
          <a:xfrm>
            <a:off x="838200" y="365125"/>
            <a:ext cx="10515600" cy="697583"/>
          </a:xfrm>
        </p:spPr>
        <p:txBody>
          <a:bodyPr>
            <a:normAutofit/>
          </a:bodyPr>
          <a:lstStyle/>
          <a:p>
            <a:r>
              <a:rPr lang="en-US" sz="3200" b="1" dirty="0">
                <a:latin typeface="Times New Roman" panose="02020603050405020304" pitchFamily="18" charset="0"/>
                <a:cs typeface="Times New Roman" panose="02020603050405020304" pitchFamily="18" charset="0"/>
              </a:rPr>
              <a:t>SOFTWARE AND HARDWARE REQUIREMENTS</a:t>
            </a:r>
            <a:endParaRPr lang="en-IN" sz="3200" dirty="0">
              <a:latin typeface="Times New Roman" panose="02020603050405020304" pitchFamily="18" charset="0"/>
              <a:cs typeface="Times New Roman" panose="02020603050405020304" pitchFamily="18" charset="0"/>
            </a:endParaRPr>
          </a:p>
        </p:txBody>
      </p:sp>
      <p:graphicFrame>
        <p:nvGraphicFramePr>
          <p:cNvPr id="8" name="Content Placeholder 7">
            <a:extLst>
              <a:ext uri="{FF2B5EF4-FFF2-40B4-BE49-F238E27FC236}">
                <a16:creationId xmlns:a16="http://schemas.microsoft.com/office/drawing/2014/main" id="{FB25E788-A41A-25B2-80DB-1E9B467E8BF2}"/>
              </a:ext>
            </a:extLst>
          </p:cNvPr>
          <p:cNvGraphicFramePr>
            <a:graphicFrameLocks noGrp="1"/>
          </p:cNvGraphicFramePr>
          <p:nvPr>
            <p:ph idx="1"/>
            <p:extLst>
              <p:ext uri="{D42A27DB-BD31-4B8C-83A1-F6EECF244321}">
                <p14:modId xmlns:p14="http://schemas.microsoft.com/office/powerpoint/2010/main" val="3905842119"/>
              </p:ext>
            </p:extLst>
          </p:nvPr>
        </p:nvGraphicFramePr>
        <p:xfrm>
          <a:off x="838200" y="1690688"/>
          <a:ext cx="6080760" cy="2177479"/>
        </p:xfrm>
        <a:graphic>
          <a:graphicData uri="http://schemas.openxmlformats.org/drawingml/2006/table">
            <a:tbl>
              <a:tblPr firstRow="1" firstCol="1" bandRow="1">
                <a:tableStyleId>{5C22544A-7EE6-4342-B048-85BDC9FD1C3A}</a:tableStyleId>
              </a:tblPr>
              <a:tblGrid>
                <a:gridCol w="3040380">
                  <a:extLst>
                    <a:ext uri="{9D8B030D-6E8A-4147-A177-3AD203B41FA5}">
                      <a16:colId xmlns:a16="http://schemas.microsoft.com/office/drawing/2014/main" val="1533630982"/>
                    </a:ext>
                  </a:extLst>
                </a:gridCol>
                <a:gridCol w="3040380">
                  <a:extLst>
                    <a:ext uri="{9D8B030D-6E8A-4147-A177-3AD203B41FA5}">
                      <a16:colId xmlns:a16="http://schemas.microsoft.com/office/drawing/2014/main" val="3241942736"/>
                    </a:ext>
                  </a:extLst>
                </a:gridCol>
              </a:tblGrid>
              <a:tr h="0">
                <a:tc>
                  <a:txBody>
                    <a:bodyPr/>
                    <a:lstStyle/>
                    <a:p>
                      <a:pPr>
                        <a:lnSpc>
                          <a:spcPct val="115000"/>
                        </a:lnSpc>
                        <a:spcAft>
                          <a:spcPts val="1000"/>
                        </a:spcAft>
                        <a:buNone/>
                      </a:pPr>
                      <a:r>
                        <a:rPr lang="en-US" sz="2400">
                          <a:effectLst/>
                        </a:rPr>
                        <a:t>       </a:t>
                      </a:r>
                      <a:r>
                        <a:rPr lang="en-US" sz="1800">
                          <a:effectLst/>
                        </a:rPr>
                        <a:t>Component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2400" dirty="0">
                          <a:effectLst/>
                        </a:rPr>
                        <a:t>          </a:t>
                      </a:r>
                      <a:r>
                        <a:rPr lang="en-US" sz="1800" dirty="0">
                          <a:effectLst/>
                        </a:rPr>
                        <a:t> Specification</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38859259"/>
                  </a:ext>
                </a:extLst>
              </a:tr>
              <a:tr h="0">
                <a:tc>
                  <a:txBody>
                    <a:bodyPr/>
                    <a:lstStyle/>
                    <a:p>
                      <a:pPr>
                        <a:lnSpc>
                          <a:spcPct val="115000"/>
                        </a:lnSpc>
                        <a:spcAft>
                          <a:spcPts val="1000"/>
                        </a:spcAft>
                        <a:buNone/>
                      </a:pPr>
                      <a:r>
                        <a:rPr lang="en-US" sz="1800">
                          <a:effectLst/>
                        </a:rPr>
                        <a:t>OS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800">
                          <a:effectLst/>
                        </a:rPr>
                        <a:t>Windows 7 Ultimate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50331103"/>
                  </a:ext>
                </a:extLst>
              </a:tr>
              <a:tr h="0">
                <a:tc>
                  <a:txBody>
                    <a:bodyPr/>
                    <a:lstStyle/>
                    <a:p>
                      <a:pPr>
                        <a:lnSpc>
                          <a:spcPct val="115000"/>
                        </a:lnSpc>
                        <a:spcAft>
                          <a:spcPts val="1000"/>
                        </a:spcAft>
                        <a:buNone/>
                      </a:pPr>
                      <a:r>
                        <a:rPr lang="en-US" sz="1800">
                          <a:effectLst/>
                        </a:rPr>
                        <a:t>Programming Language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800">
                          <a:effectLst/>
                        </a:rPr>
                        <a:t>Python 3.7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73396701"/>
                  </a:ext>
                </a:extLst>
              </a:tr>
              <a:tr h="0">
                <a:tc>
                  <a:txBody>
                    <a:bodyPr/>
                    <a:lstStyle/>
                    <a:p>
                      <a:pPr>
                        <a:lnSpc>
                          <a:spcPct val="115000"/>
                        </a:lnSpc>
                        <a:spcAft>
                          <a:spcPts val="1000"/>
                        </a:spcAft>
                        <a:buNone/>
                      </a:pPr>
                      <a:r>
                        <a:rPr lang="en-US" sz="1800">
                          <a:effectLst/>
                        </a:rPr>
                        <a:t>Front-End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800">
                          <a:effectLst/>
                        </a:rPr>
                        <a:t>Python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5543981"/>
                  </a:ext>
                </a:extLst>
              </a:tr>
              <a:tr h="0">
                <a:tc>
                  <a:txBody>
                    <a:bodyPr/>
                    <a:lstStyle/>
                    <a:p>
                      <a:pPr>
                        <a:lnSpc>
                          <a:spcPct val="115000"/>
                        </a:lnSpc>
                        <a:spcAft>
                          <a:spcPts val="1000"/>
                        </a:spcAft>
                        <a:buNone/>
                      </a:pPr>
                      <a:r>
                        <a:rPr lang="en-US" sz="1800">
                          <a:effectLst/>
                        </a:rPr>
                        <a:t>Back-End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800">
                          <a:effectLst/>
                        </a:rPr>
                        <a:t>Django-ORM</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78152833"/>
                  </a:ext>
                </a:extLst>
              </a:tr>
              <a:tr h="0">
                <a:tc>
                  <a:txBody>
                    <a:bodyPr/>
                    <a:lstStyle/>
                    <a:p>
                      <a:pPr>
                        <a:lnSpc>
                          <a:spcPct val="115000"/>
                        </a:lnSpc>
                        <a:spcAft>
                          <a:spcPts val="1000"/>
                        </a:spcAft>
                        <a:buNone/>
                      </a:pPr>
                      <a:r>
                        <a:rPr lang="en-US" sz="1800">
                          <a:effectLst/>
                        </a:rPr>
                        <a:t>Designing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800">
                          <a:effectLst/>
                        </a:rPr>
                        <a:t>HTML, CSS, JavaScript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78870177"/>
                  </a:ext>
                </a:extLst>
              </a:tr>
              <a:tr h="0">
                <a:tc>
                  <a:txBody>
                    <a:bodyPr/>
                    <a:lstStyle/>
                    <a:p>
                      <a:pPr>
                        <a:lnSpc>
                          <a:spcPct val="115000"/>
                        </a:lnSpc>
                        <a:spcAft>
                          <a:spcPts val="1000"/>
                        </a:spcAft>
                        <a:buNone/>
                      </a:pPr>
                      <a:r>
                        <a:rPr lang="en-US" sz="1800">
                          <a:effectLst/>
                        </a:rPr>
                        <a:t>Data Base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800" dirty="0">
                          <a:effectLst/>
                        </a:rPr>
                        <a:t>MySQL(WAMP Server)</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6334341"/>
                  </a:ext>
                </a:extLst>
              </a:tr>
            </a:tbl>
          </a:graphicData>
        </a:graphic>
      </p:graphicFrame>
      <p:graphicFrame>
        <p:nvGraphicFramePr>
          <p:cNvPr id="9" name="Table 8">
            <a:extLst>
              <a:ext uri="{FF2B5EF4-FFF2-40B4-BE49-F238E27FC236}">
                <a16:creationId xmlns:a16="http://schemas.microsoft.com/office/drawing/2014/main" id="{99244341-978F-2787-F70E-18FCF9F4B4B2}"/>
              </a:ext>
            </a:extLst>
          </p:cNvPr>
          <p:cNvGraphicFramePr>
            <a:graphicFrameLocks noGrp="1"/>
          </p:cNvGraphicFramePr>
          <p:nvPr>
            <p:extLst>
              <p:ext uri="{D42A27DB-BD31-4B8C-83A1-F6EECF244321}">
                <p14:modId xmlns:p14="http://schemas.microsoft.com/office/powerpoint/2010/main" val="3361895388"/>
              </p:ext>
            </p:extLst>
          </p:nvPr>
        </p:nvGraphicFramePr>
        <p:xfrm>
          <a:off x="838200" y="4473675"/>
          <a:ext cx="6080760" cy="1781556"/>
        </p:xfrm>
        <a:graphic>
          <a:graphicData uri="http://schemas.openxmlformats.org/drawingml/2006/table">
            <a:tbl>
              <a:tblPr firstRow="1" firstCol="1" bandRow="1">
                <a:tableStyleId>{5C22544A-7EE6-4342-B048-85BDC9FD1C3A}</a:tableStyleId>
              </a:tblPr>
              <a:tblGrid>
                <a:gridCol w="3040380">
                  <a:extLst>
                    <a:ext uri="{9D8B030D-6E8A-4147-A177-3AD203B41FA5}">
                      <a16:colId xmlns:a16="http://schemas.microsoft.com/office/drawing/2014/main" val="2792001742"/>
                    </a:ext>
                  </a:extLst>
                </a:gridCol>
                <a:gridCol w="3040380">
                  <a:extLst>
                    <a:ext uri="{9D8B030D-6E8A-4147-A177-3AD203B41FA5}">
                      <a16:colId xmlns:a16="http://schemas.microsoft.com/office/drawing/2014/main" val="3414996662"/>
                    </a:ext>
                  </a:extLst>
                </a:gridCol>
              </a:tblGrid>
              <a:tr h="0">
                <a:tc>
                  <a:txBody>
                    <a:bodyPr/>
                    <a:lstStyle/>
                    <a:p>
                      <a:pPr>
                        <a:lnSpc>
                          <a:spcPct val="115000"/>
                        </a:lnSpc>
                        <a:spcAft>
                          <a:spcPts val="1000"/>
                        </a:spcAft>
                        <a:buNone/>
                      </a:pPr>
                      <a:r>
                        <a:rPr lang="en-US" sz="1100" dirty="0">
                          <a:effectLst/>
                        </a:rPr>
                        <a:t>        </a:t>
                      </a:r>
                      <a:r>
                        <a:rPr lang="en-US" sz="1800" dirty="0">
                          <a:effectLst/>
                        </a:rPr>
                        <a:t> Component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800">
                          <a:effectLst/>
                        </a:rPr>
                        <a:t>          Requirements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43664561"/>
                  </a:ext>
                </a:extLst>
              </a:tr>
              <a:tr h="0">
                <a:tc>
                  <a:txBody>
                    <a:bodyPr/>
                    <a:lstStyle/>
                    <a:p>
                      <a:pPr>
                        <a:lnSpc>
                          <a:spcPct val="115000"/>
                        </a:lnSpc>
                        <a:spcAft>
                          <a:spcPts val="1000"/>
                        </a:spcAft>
                        <a:buNone/>
                      </a:pPr>
                      <a:r>
                        <a:rPr lang="en-US" sz="1800">
                          <a:effectLst/>
                        </a:rPr>
                        <a:t>Processor</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800" dirty="0">
                          <a:effectLst/>
                        </a:rPr>
                        <a:t>Intel i5(6</a:t>
                      </a:r>
                      <a:r>
                        <a:rPr lang="en-US" sz="1800" baseline="30000" dirty="0">
                          <a:effectLst/>
                        </a:rPr>
                        <a:t>th</a:t>
                      </a:r>
                      <a:r>
                        <a:rPr lang="en-US" sz="1800" dirty="0">
                          <a:effectLst/>
                        </a:rPr>
                        <a:t> Gen or Later)</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94626908"/>
                  </a:ext>
                </a:extLst>
              </a:tr>
              <a:tr h="0">
                <a:tc>
                  <a:txBody>
                    <a:bodyPr/>
                    <a:lstStyle/>
                    <a:p>
                      <a:pPr>
                        <a:lnSpc>
                          <a:spcPct val="115000"/>
                        </a:lnSpc>
                        <a:spcAft>
                          <a:spcPts val="1000"/>
                        </a:spcAft>
                        <a:buNone/>
                      </a:pPr>
                      <a:r>
                        <a:rPr lang="en-US" sz="1800">
                          <a:effectLst/>
                        </a:rPr>
                        <a:t>RAM</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800">
                          <a:effectLst/>
                        </a:rPr>
                        <a:t>Minimum 4 GB</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20358167"/>
                  </a:ext>
                </a:extLst>
              </a:tr>
              <a:tr h="0">
                <a:tc>
                  <a:txBody>
                    <a:bodyPr/>
                    <a:lstStyle/>
                    <a:p>
                      <a:pPr>
                        <a:lnSpc>
                          <a:spcPct val="115000"/>
                        </a:lnSpc>
                        <a:spcAft>
                          <a:spcPts val="1000"/>
                        </a:spcAft>
                        <a:buNone/>
                      </a:pPr>
                      <a:r>
                        <a:rPr lang="en-US" sz="1800">
                          <a:effectLst/>
                        </a:rPr>
                        <a:t>Hard Disk</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800">
                          <a:effectLst/>
                        </a:rPr>
                        <a:t>20 GB</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81585539"/>
                  </a:ext>
                </a:extLst>
              </a:tr>
              <a:tr h="0">
                <a:tc>
                  <a:txBody>
                    <a:bodyPr/>
                    <a:lstStyle/>
                    <a:p>
                      <a:pPr>
                        <a:lnSpc>
                          <a:spcPct val="115000"/>
                        </a:lnSpc>
                        <a:spcAft>
                          <a:spcPts val="1000"/>
                        </a:spcAft>
                        <a:buNone/>
                      </a:pPr>
                      <a:r>
                        <a:rPr lang="en-US" sz="1800">
                          <a:effectLst/>
                        </a:rPr>
                        <a:t>Key Board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800">
                          <a:effectLst/>
                        </a:rPr>
                        <a:t>Standard Windows Keyboard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87722815"/>
                  </a:ext>
                </a:extLst>
              </a:tr>
              <a:tr h="0">
                <a:tc>
                  <a:txBody>
                    <a:bodyPr/>
                    <a:lstStyle/>
                    <a:p>
                      <a:pPr>
                        <a:lnSpc>
                          <a:spcPct val="115000"/>
                        </a:lnSpc>
                        <a:spcAft>
                          <a:spcPts val="1000"/>
                        </a:spcAft>
                        <a:buNone/>
                      </a:pPr>
                      <a:r>
                        <a:rPr lang="en-US" sz="1800" dirty="0">
                          <a:effectLst/>
                        </a:rPr>
                        <a:t>Storage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buNone/>
                      </a:pPr>
                      <a:r>
                        <a:rPr lang="en-US" sz="1800" dirty="0">
                          <a:effectLst/>
                        </a:rPr>
                        <a:t>SSD with at least 50 GB free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48656139"/>
                  </a:ext>
                </a:extLst>
              </a:tr>
            </a:tbl>
          </a:graphicData>
        </a:graphic>
      </p:graphicFrame>
      <p:sp>
        <p:nvSpPr>
          <p:cNvPr id="10" name="Rectangle 2">
            <a:extLst>
              <a:ext uri="{FF2B5EF4-FFF2-40B4-BE49-F238E27FC236}">
                <a16:creationId xmlns:a16="http://schemas.microsoft.com/office/drawing/2014/main" id="{3C8D6571-78D1-750D-F77C-AFE609E5A71F}"/>
              </a:ext>
            </a:extLst>
          </p:cNvPr>
          <p:cNvSpPr>
            <a:spLocks noChangeArrowheads="1"/>
          </p:cNvSpPr>
          <p:nvPr/>
        </p:nvSpPr>
        <p:spPr bwMode="auto">
          <a:xfrm>
            <a:off x="838200" y="1187879"/>
            <a:ext cx="29131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Software </a:t>
            </a:r>
            <a:r>
              <a:rPr kumimoji="0" lang="en-US" altLang="en-US" sz="2000" b="1"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Requriements</a:t>
            </a:r>
            <a:r>
              <a:rPr kumimoji="0" lang="en-US" altLang="en-US" sz="20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en-US" sz="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DDDC5C1-59CE-B7BE-4A42-CFEC119DDB04}"/>
              </a:ext>
            </a:extLst>
          </p:cNvPr>
          <p:cNvSpPr txBox="1"/>
          <p:nvPr/>
        </p:nvSpPr>
        <p:spPr>
          <a:xfrm>
            <a:off x="838200" y="3986255"/>
            <a:ext cx="4107024" cy="400110"/>
          </a:xfrm>
          <a:prstGeom prst="rect">
            <a:avLst/>
          </a:prstGeom>
          <a:noFill/>
        </p:spPr>
        <p:txBody>
          <a:bodyPr wrap="square" rtlCol="0">
            <a:spAutoFit/>
          </a:bodyPr>
          <a:lstStyle/>
          <a:p>
            <a:r>
              <a:rPr lang="en-US" altLang="en-US" sz="2000" b="1" dirty="0">
                <a:latin typeface="Times New Roman" panose="02020603050405020304" pitchFamily="18" charset="0"/>
                <a:ea typeface="Calibri" panose="020F0502020204030204" pitchFamily="34" charset="0"/>
                <a:cs typeface="Times New Roman" panose="02020603050405020304" pitchFamily="18" charset="0"/>
              </a:rPr>
              <a:t>Hardware Requirements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1466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D7D33-BE0B-BB79-DD79-EE1FA3E9786B}"/>
              </a:ext>
            </a:extLst>
          </p:cNvPr>
          <p:cNvSpPr>
            <a:spLocks noGrp="1"/>
          </p:cNvSpPr>
          <p:nvPr>
            <p:ph type="title"/>
          </p:nvPr>
        </p:nvSpPr>
        <p:spPr>
          <a:xfrm>
            <a:off x="838200" y="681037"/>
            <a:ext cx="10515600" cy="1009651"/>
          </a:xfrm>
        </p:spPr>
        <p:txBody>
          <a:bodyPr>
            <a:normAutofit/>
          </a:bodyPr>
          <a:lstStyle/>
          <a:p>
            <a:r>
              <a:rPr lang="en-US" sz="3200" b="1" dirty="0">
                <a:latin typeface="Times New Roman" panose="02020603050405020304" pitchFamily="18" charset="0"/>
                <a:cs typeface="Times New Roman" panose="02020603050405020304" pitchFamily="18" charset="0"/>
              </a:rPr>
              <a:t>UML DIAGRAMS</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B156BF0-97F8-52E8-1E5B-EAB1D6F6F3E8}"/>
              </a:ext>
            </a:extLst>
          </p:cNvPr>
          <p:cNvSpPr>
            <a:spLocks noGrp="1"/>
          </p:cNvSpPr>
          <p:nvPr>
            <p:ph idx="1"/>
          </p:nvPr>
        </p:nvSpPr>
        <p:spPr/>
        <p:txBody>
          <a:bodyPr/>
          <a:lstStyle/>
          <a:p>
            <a:r>
              <a:rPr lang="en-IN" b="1" dirty="0">
                <a:latin typeface="Times New Roman" panose="02020603050405020304" pitchFamily="18" charset="0"/>
                <a:cs typeface="Times New Roman" panose="02020603050405020304" pitchFamily="18" charset="0"/>
              </a:rPr>
              <a:t>Class Diagram</a:t>
            </a:r>
          </a:p>
          <a:p>
            <a:r>
              <a:rPr lang="en-IN" b="1" dirty="0">
                <a:latin typeface="Times New Roman" panose="02020603050405020304" pitchFamily="18" charset="0"/>
                <a:cs typeface="Times New Roman" panose="02020603050405020304" pitchFamily="18" charset="0"/>
              </a:rPr>
              <a:t>Use Case Diagram</a:t>
            </a:r>
          </a:p>
          <a:p>
            <a:r>
              <a:rPr lang="en-IN" b="1" dirty="0">
                <a:latin typeface="Times New Roman" panose="02020603050405020304" pitchFamily="18" charset="0"/>
                <a:cs typeface="Times New Roman" panose="02020603050405020304" pitchFamily="18" charset="0"/>
              </a:rPr>
              <a:t>Sequence Diagram</a:t>
            </a:r>
          </a:p>
          <a:p>
            <a:pPr marL="0" indent="0">
              <a:buNone/>
            </a:pPr>
            <a:endParaRPr lang="en-IN" sz="3200" dirty="0">
              <a:latin typeface="Times New Roman" panose="02020603050405020304" pitchFamily="18" charset="0"/>
              <a:cs typeface="Times New Roman" panose="02020603050405020304" pitchFamily="18" charset="0"/>
            </a:endParaRPr>
          </a:p>
          <a:p>
            <a:pPr marL="0" indent="0">
              <a:buNone/>
            </a:pPr>
            <a:r>
              <a:rPr lang="en-IN" sz="3200" b="1" dirty="0">
                <a:latin typeface="Times New Roman" panose="02020603050405020304" pitchFamily="18" charset="0"/>
                <a:cs typeface="Times New Roman" panose="02020603050405020304" pitchFamily="18" charset="0"/>
              </a:rPr>
              <a:t>SYSTEM DESIGN</a:t>
            </a:r>
          </a:p>
          <a:p>
            <a:r>
              <a:rPr lang="en-IN" sz="3200"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Architecture</a:t>
            </a:r>
            <a:r>
              <a:rPr lang="en-US" sz="3200" b="1" dirty="0"/>
              <a:t>/</a:t>
            </a:r>
            <a:r>
              <a:rPr lang="en-US" sz="3200" b="1" dirty="0" err="1"/>
              <a:t>Blockdiagram</a:t>
            </a:r>
            <a:endParaRPr lang="en-US" sz="3200" b="1" dirty="0"/>
          </a:p>
          <a:p>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3261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843B1-5BF3-AD9F-714D-FD46C081E851}"/>
              </a:ext>
            </a:extLst>
          </p:cNvPr>
          <p:cNvSpPr>
            <a:spLocks noGrp="1"/>
          </p:cNvSpPr>
          <p:nvPr>
            <p:ph type="title"/>
          </p:nvPr>
        </p:nvSpPr>
        <p:spPr>
          <a:xfrm>
            <a:off x="838200" y="365126"/>
            <a:ext cx="10515600" cy="567935"/>
          </a:xfrm>
        </p:spPr>
        <p:txBody>
          <a:bodyPr>
            <a:noAutofit/>
          </a:bodyPr>
          <a:lstStyle/>
          <a:p>
            <a:r>
              <a:rPr lang="en-US" sz="3600" b="1" dirty="0">
                <a:latin typeface="Times New Roman" panose="02020603050405020304" pitchFamily="18" charset="0"/>
                <a:cs typeface="Times New Roman" panose="02020603050405020304" pitchFamily="18" charset="0"/>
              </a:rPr>
              <a:t>UML Diagrams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3A7FDB0-952B-B340-9CB8-67E1CCA8566F}"/>
              </a:ext>
            </a:extLst>
          </p:cNvPr>
          <p:cNvSpPr>
            <a:spLocks noGrp="1"/>
          </p:cNvSpPr>
          <p:nvPr>
            <p:ph idx="1"/>
          </p:nvPr>
        </p:nvSpPr>
        <p:spPr>
          <a:xfrm>
            <a:off x="838200" y="933061"/>
            <a:ext cx="10515600" cy="5243902"/>
          </a:xfrm>
        </p:spPr>
        <p:txBody>
          <a:bodyPr/>
          <a:lstStyle/>
          <a:p>
            <a:pPr marL="0" indent="0">
              <a:buNone/>
            </a:pPr>
            <a:r>
              <a:rPr lang="en-US" b="1" dirty="0">
                <a:latin typeface="Times New Roman" panose="02020603050405020304" pitchFamily="18" charset="0"/>
                <a:cs typeface="Times New Roman" panose="02020603050405020304" pitchFamily="18" charset="0"/>
              </a:rPr>
              <a:t>Class Diagram :</a:t>
            </a:r>
          </a:p>
          <a:p>
            <a:pPr marL="0" indent="0">
              <a:buNone/>
            </a:pPr>
            <a:endParaRPr lang="en-IN"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25077EB-4A7C-97FB-3D26-E12B156351BB}"/>
              </a:ext>
            </a:extLst>
          </p:cNvPr>
          <p:cNvPicPr>
            <a:picLocks noChangeAspect="1"/>
          </p:cNvPicPr>
          <p:nvPr/>
        </p:nvPicPr>
        <p:blipFill>
          <a:blip r:embed="rId2"/>
          <a:srcRect/>
          <a:stretch/>
        </p:blipFill>
        <p:spPr>
          <a:xfrm>
            <a:off x="2038356" y="1500996"/>
            <a:ext cx="7785450" cy="4796032"/>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30122923-DB77-16FE-A383-F3D68DE2355A}"/>
                  </a:ext>
                </a:extLst>
              </p14:cNvPr>
              <p14:cNvContentPartPr/>
              <p14:nvPr/>
            </p14:nvContentPartPr>
            <p14:xfrm>
              <a:off x="4259269" y="2476777"/>
              <a:ext cx="360" cy="360"/>
            </p14:xfrm>
          </p:contentPart>
        </mc:Choice>
        <mc:Fallback xmlns="">
          <p:pic>
            <p:nvPicPr>
              <p:cNvPr id="4" name="Ink 3">
                <a:extLst>
                  <a:ext uri="{FF2B5EF4-FFF2-40B4-BE49-F238E27FC236}">
                    <a16:creationId xmlns:a16="http://schemas.microsoft.com/office/drawing/2014/main" id="{30122923-DB77-16FE-A383-F3D68DE2355A}"/>
                  </a:ext>
                </a:extLst>
              </p:cNvPr>
              <p:cNvPicPr/>
              <p:nvPr/>
            </p:nvPicPr>
            <p:blipFill>
              <a:blip r:embed="rId4"/>
              <a:stretch>
                <a:fillRect/>
              </a:stretch>
            </p:blipFill>
            <p:spPr>
              <a:xfrm>
                <a:off x="4196269" y="2414137"/>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C244AA31-3AE5-DE70-DB6B-CD9B0A470906}"/>
                  </a:ext>
                </a:extLst>
              </p14:cNvPr>
              <p14:cNvContentPartPr/>
              <p14:nvPr/>
            </p14:nvContentPartPr>
            <p14:xfrm>
              <a:off x="13773709" y="1006897"/>
              <a:ext cx="360" cy="360"/>
            </p14:xfrm>
          </p:contentPart>
        </mc:Choice>
        <mc:Fallback xmlns="">
          <p:pic>
            <p:nvPicPr>
              <p:cNvPr id="5" name="Ink 4">
                <a:extLst>
                  <a:ext uri="{FF2B5EF4-FFF2-40B4-BE49-F238E27FC236}">
                    <a16:creationId xmlns:a16="http://schemas.microsoft.com/office/drawing/2014/main" id="{C244AA31-3AE5-DE70-DB6B-CD9B0A470906}"/>
                  </a:ext>
                </a:extLst>
              </p:cNvPr>
              <p:cNvPicPr/>
              <p:nvPr/>
            </p:nvPicPr>
            <p:blipFill>
              <a:blip r:embed="rId4"/>
              <a:stretch>
                <a:fillRect/>
              </a:stretch>
            </p:blipFill>
            <p:spPr>
              <a:xfrm>
                <a:off x="13710709" y="944257"/>
                <a:ext cx="126000" cy="126000"/>
              </a:xfrm>
              <a:prstGeom prst="rect">
                <a:avLst/>
              </a:prstGeom>
            </p:spPr>
          </p:pic>
        </mc:Fallback>
      </mc:AlternateContent>
    </p:spTree>
    <p:extLst>
      <p:ext uri="{BB962C8B-B14F-4D97-AF65-F5344CB8AC3E}">
        <p14:creationId xmlns:p14="http://schemas.microsoft.com/office/powerpoint/2010/main" val="2621670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F5BA3-0CFF-3C97-D543-FA02D4949D75}"/>
              </a:ext>
            </a:extLst>
          </p:cNvPr>
          <p:cNvSpPr>
            <a:spLocks noGrp="1"/>
          </p:cNvSpPr>
          <p:nvPr>
            <p:ph type="title"/>
          </p:nvPr>
        </p:nvSpPr>
        <p:spPr>
          <a:xfrm>
            <a:off x="838200" y="365126"/>
            <a:ext cx="10515600" cy="446638"/>
          </a:xfrm>
        </p:spPr>
        <p:txBody>
          <a:bodyPr>
            <a:noAutofit/>
          </a:bodyPr>
          <a:lstStyle/>
          <a:p>
            <a:r>
              <a:rPr lang="en-US" sz="2800" b="1" dirty="0">
                <a:latin typeface="Times New Roman" panose="02020603050405020304" pitchFamily="18" charset="0"/>
                <a:cs typeface="Times New Roman" panose="02020603050405020304" pitchFamily="18" charset="0"/>
              </a:rPr>
              <a:t>Use case:</a:t>
            </a:r>
            <a:endParaRPr lang="en-IN" sz="2800"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C8273FC7-F4C1-C733-589D-85342B24D126}"/>
              </a:ext>
            </a:extLst>
          </p:cNvPr>
          <p:cNvPicPr>
            <a:picLocks noGrp="1" noChangeAspect="1"/>
          </p:cNvPicPr>
          <p:nvPr>
            <p:ph idx="1"/>
          </p:nvPr>
        </p:nvPicPr>
        <p:blipFill>
          <a:blip r:embed="rId2"/>
          <a:srcRect/>
          <a:stretch/>
        </p:blipFill>
        <p:spPr>
          <a:xfrm>
            <a:off x="1726163" y="969963"/>
            <a:ext cx="8229600" cy="5207000"/>
          </a:xfrm>
        </p:spPr>
      </p:pic>
    </p:spTree>
    <p:extLst>
      <p:ext uri="{BB962C8B-B14F-4D97-AF65-F5344CB8AC3E}">
        <p14:creationId xmlns:p14="http://schemas.microsoft.com/office/powerpoint/2010/main" val="506978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8D91B-35A4-7BF1-0E78-8C4E3B287C07}"/>
              </a:ext>
            </a:extLst>
          </p:cNvPr>
          <p:cNvSpPr>
            <a:spLocks noGrp="1"/>
          </p:cNvSpPr>
          <p:nvPr>
            <p:ph type="title"/>
          </p:nvPr>
        </p:nvSpPr>
        <p:spPr/>
        <p:txBody>
          <a:bodyPr>
            <a:normAutofit/>
          </a:bodyPr>
          <a:lstStyle/>
          <a:p>
            <a:r>
              <a:rPr lang="en-US" sz="2800" b="1" dirty="0">
                <a:latin typeface="Times New Roman" panose="02020603050405020304" pitchFamily="18" charset="0"/>
                <a:cs typeface="Times New Roman" panose="02020603050405020304" pitchFamily="18" charset="0"/>
              </a:rPr>
              <a:t>Sequence Diagram:</a:t>
            </a:r>
            <a:endParaRPr lang="en-IN" sz="2800"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51A14301-AFB7-88E8-9021-AA78E77C5C24}"/>
              </a:ext>
            </a:extLst>
          </p:cNvPr>
          <p:cNvPicPr>
            <a:picLocks noGrp="1" noChangeAspect="1"/>
          </p:cNvPicPr>
          <p:nvPr>
            <p:ph idx="1"/>
          </p:nvPr>
        </p:nvPicPr>
        <p:blipFill>
          <a:blip r:embed="rId2"/>
          <a:srcRect/>
          <a:stretch/>
        </p:blipFill>
        <p:spPr>
          <a:xfrm>
            <a:off x="2324163" y="1436914"/>
            <a:ext cx="7287210" cy="4934663"/>
          </a:xfrm>
        </p:spPr>
      </p:pic>
    </p:spTree>
    <p:extLst>
      <p:ext uri="{BB962C8B-B14F-4D97-AF65-F5344CB8AC3E}">
        <p14:creationId xmlns:p14="http://schemas.microsoft.com/office/powerpoint/2010/main" val="8214456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5FF1B-65B8-B02C-7B7E-04131315CB0E}"/>
              </a:ext>
            </a:extLst>
          </p:cNvPr>
          <p:cNvSpPr>
            <a:spLocks noGrp="1"/>
          </p:cNvSpPr>
          <p:nvPr>
            <p:ph type="title"/>
          </p:nvPr>
        </p:nvSpPr>
        <p:spPr>
          <a:xfrm>
            <a:off x="838200" y="1390261"/>
            <a:ext cx="10515600" cy="300427"/>
          </a:xfrm>
        </p:spPr>
        <p:txBody>
          <a:bodyPr>
            <a:normAutofit fontScale="90000"/>
          </a:bodyPr>
          <a:lstStyle/>
          <a:p>
            <a:r>
              <a:rPr lang="en-US" sz="4000" b="1" dirty="0">
                <a:latin typeface="Times New Roman" panose="02020603050405020304" pitchFamily="18" charset="0"/>
                <a:cs typeface="Times New Roman" panose="02020603050405020304" pitchFamily="18" charset="0"/>
              </a:rPr>
              <a:t>SYSTEM DESIGN</a:t>
            </a:r>
            <a:br>
              <a:rPr lang="en-IN" b="1" dirty="0"/>
            </a:br>
            <a:endParaRPr lang="en-IN" dirty="0"/>
          </a:p>
        </p:txBody>
      </p:sp>
      <p:sp>
        <p:nvSpPr>
          <p:cNvPr id="3" name="Content Placeholder 2">
            <a:extLst>
              <a:ext uri="{FF2B5EF4-FFF2-40B4-BE49-F238E27FC236}">
                <a16:creationId xmlns:a16="http://schemas.microsoft.com/office/drawing/2014/main" id="{E485ADF6-7A13-D357-35C0-A89D0D26ABB7}"/>
              </a:ext>
            </a:extLst>
          </p:cNvPr>
          <p:cNvSpPr>
            <a:spLocks noGrp="1"/>
          </p:cNvSpPr>
          <p:nvPr>
            <p:ph idx="1"/>
          </p:nvPr>
        </p:nvSpPr>
        <p:spPr>
          <a:xfrm>
            <a:off x="838200" y="1825625"/>
            <a:ext cx="10515600" cy="4901746"/>
          </a:xfrm>
        </p:spPr>
        <p:txBody>
          <a:bodyPr/>
          <a:lstStyle/>
          <a:p>
            <a:pPr marL="0" indent="0">
              <a:buNone/>
            </a:pPr>
            <a:r>
              <a:rPr lang="en-US" b="1" dirty="0">
                <a:latin typeface="Times New Roman" panose="02020603050405020304" pitchFamily="18" charset="0"/>
                <a:cs typeface="Times New Roman" panose="02020603050405020304" pitchFamily="18" charset="0"/>
              </a:rPr>
              <a:t>Architecture/Block diagram:</a:t>
            </a:r>
          </a:p>
          <a:p>
            <a:endParaRPr lang="en-IN" dirty="0"/>
          </a:p>
        </p:txBody>
      </p:sp>
      <p:pic>
        <p:nvPicPr>
          <p:cNvPr id="5" name="Picture 4">
            <a:extLst>
              <a:ext uri="{FF2B5EF4-FFF2-40B4-BE49-F238E27FC236}">
                <a16:creationId xmlns:a16="http://schemas.microsoft.com/office/drawing/2014/main" id="{51316826-A855-F1D3-C8A9-2D06CF0C4B50}"/>
              </a:ext>
            </a:extLst>
          </p:cNvPr>
          <p:cNvPicPr>
            <a:picLocks noChangeAspect="1"/>
          </p:cNvPicPr>
          <p:nvPr/>
        </p:nvPicPr>
        <p:blipFill>
          <a:blip r:embed="rId2"/>
          <a:srcRect/>
          <a:stretch/>
        </p:blipFill>
        <p:spPr>
          <a:xfrm>
            <a:off x="2705879" y="2466834"/>
            <a:ext cx="6442196" cy="4023720"/>
          </a:xfrm>
          <a:prstGeom prst="rect">
            <a:avLst/>
          </a:prstGeom>
        </p:spPr>
      </p:pic>
    </p:spTree>
    <p:extLst>
      <p:ext uri="{BB962C8B-B14F-4D97-AF65-F5344CB8AC3E}">
        <p14:creationId xmlns:p14="http://schemas.microsoft.com/office/powerpoint/2010/main" val="3370627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CFFE4-57F8-6490-CCFB-40E0635C28CE}"/>
              </a:ext>
            </a:extLst>
          </p:cNvPr>
          <p:cNvSpPr>
            <a:spLocks noGrp="1"/>
          </p:cNvSpPr>
          <p:nvPr>
            <p:ph type="title"/>
          </p:nvPr>
        </p:nvSpPr>
        <p:spPr>
          <a:xfrm>
            <a:off x="838200" y="365125"/>
            <a:ext cx="10515600" cy="586597"/>
          </a:xfrm>
        </p:spPr>
        <p:txBody>
          <a:bodyPr>
            <a:normAutofit fontScale="90000"/>
          </a:bodyPr>
          <a:lstStyle/>
          <a:p>
            <a:r>
              <a:rPr lang="en-US" sz="3600" b="1" dirty="0">
                <a:latin typeface="Times New Roman" panose="02020603050405020304" pitchFamily="18" charset="0"/>
                <a:cs typeface="Times New Roman" panose="02020603050405020304" pitchFamily="18" charset="0"/>
              </a:rPr>
              <a:t>Implementation</a:t>
            </a:r>
            <a:r>
              <a:rPr lang="en-US" sz="3600" dirty="0">
                <a:latin typeface="Times New Roman" panose="02020603050405020304" pitchFamily="18" charset="0"/>
                <a:cs typeface="Times New Roman" panose="02020603050405020304" pitchFamily="18" charset="0"/>
              </a:rPr>
              <a:t> :</a:t>
            </a:r>
            <a:br>
              <a:rPr lang="en-US" sz="3600" dirty="0">
                <a:latin typeface="Times New Roman" panose="02020603050405020304" pitchFamily="18" charset="0"/>
                <a:cs typeface="Times New Roman" panose="02020603050405020304" pitchFamily="18" charset="0"/>
              </a:rPr>
            </a:br>
            <a:br>
              <a:rPr lang="en-US" sz="3600" dirty="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6FD435C-FE63-C875-B15A-31A68078CCD6}"/>
              </a:ext>
            </a:extLst>
          </p:cNvPr>
          <p:cNvSpPr>
            <a:spLocks noGrp="1"/>
          </p:cNvSpPr>
          <p:nvPr>
            <p:ph idx="1"/>
          </p:nvPr>
        </p:nvSpPr>
        <p:spPr>
          <a:xfrm>
            <a:off x="838200" y="587829"/>
            <a:ext cx="10515600" cy="5822302"/>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Views.py :</a:t>
            </a:r>
          </a:p>
          <a:p>
            <a:pPr marL="0" indent="0">
              <a:buNone/>
            </a:pPr>
            <a:r>
              <a:rPr lang="en-US" sz="2000" dirty="0">
                <a:latin typeface="Times New Roman" panose="02020603050405020304" pitchFamily="18" charset="0"/>
                <a:cs typeface="Times New Roman" panose="02020603050405020304" pitchFamily="18" charset="0"/>
              </a:rPr>
              <a:t>from </a:t>
            </a:r>
            <a:r>
              <a:rPr lang="en-US" sz="2000" dirty="0" err="1">
                <a:latin typeface="Times New Roman" panose="02020603050405020304" pitchFamily="18" charset="0"/>
                <a:cs typeface="Times New Roman" panose="02020603050405020304" pitchFamily="18" charset="0"/>
              </a:rPr>
              <a:t>django.db.models</a:t>
            </a:r>
            <a:r>
              <a:rPr lang="en-US" sz="2000" dirty="0">
                <a:latin typeface="Times New Roman" panose="02020603050405020304" pitchFamily="18" charset="0"/>
                <a:cs typeface="Times New Roman" panose="02020603050405020304" pitchFamily="18" charset="0"/>
              </a:rPr>
              <a:t> import Count from </a:t>
            </a:r>
            <a:r>
              <a:rPr lang="en-US" sz="2000" dirty="0" err="1">
                <a:latin typeface="Times New Roman" panose="02020603050405020304" pitchFamily="18" charset="0"/>
                <a:cs typeface="Times New Roman" panose="02020603050405020304" pitchFamily="18" charset="0"/>
              </a:rPr>
              <a:t>django.db.models</a:t>
            </a:r>
            <a:r>
              <a:rPr lang="en-US" sz="2000" dirty="0">
                <a:latin typeface="Times New Roman" panose="02020603050405020304" pitchFamily="18" charset="0"/>
                <a:cs typeface="Times New Roman" panose="02020603050405020304" pitchFamily="18" charset="0"/>
              </a:rPr>
              <a:t> import Q</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from </a:t>
            </a:r>
            <a:r>
              <a:rPr lang="en-US" sz="2000" dirty="0" err="1">
                <a:latin typeface="Times New Roman" panose="02020603050405020304" pitchFamily="18" charset="0"/>
                <a:cs typeface="Times New Roman" panose="02020603050405020304" pitchFamily="18" charset="0"/>
              </a:rPr>
              <a:t>django.shortcuts</a:t>
            </a:r>
            <a:r>
              <a:rPr lang="en-US" sz="2000" dirty="0">
                <a:latin typeface="Times New Roman" panose="02020603050405020304" pitchFamily="18" charset="0"/>
                <a:cs typeface="Times New Roman" panose="02020603050405020304" pitchFamily="18" charset="0"/>
              </a:rPr>
              <a:t> import render, redirect, get_object_or_404</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import pandas as pd</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from </a:t>
            </a:r>
            <a:r>
              <a:rPr lang="en-US" sz="2000" dirty="0" err="1">
                <a:latin typeface="Times New Roman" panose="02020603050405020304" pitchFamily="18" charset="0"/>
                <a:cs typeface="Times New Roman" panose="02020603050405020304" pitchFamily="18" charset="0"/>
              </a:rPr>
              <a:t>sklearn.feature_extraction.text</a:t>
            </a:r>
            <a:r>
              <a:rPr lang="en-US" sz="2000" dirty="0">
                <a:latin typeface="Times New Roman" panose="02020603050405020304" pitchFamily="18" charset="0"/>
                <a:cs typeface="Times New Roman" panose="02020603050405020304" pitchFamily="18" charset="0"/>
              </a:rPr>
              <a:t> import </a:t>
            </a:r>
            <a:r>
              <a:rPr lang="en-US" sz="2000" dirty="0" err="1">
                <a:latin typeface="Times New Roman" panose="02020603050405020304" pitchFamily="18" charset="0"/>
                <a:cs typeface="Times New Roman" panose="02020603050405020304" pitchFamily="18" charset="0"/>
              </a:rPr>
              <a:t>CountVectorizer</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from </a:t>
            </a:r>
            <a:r>
              <a:rPr lang="en-US" sz="2000" dirty="0" err="1">
                <a:latin typeface="Times New Roman" panose="02020603050405020304" pitchFamily="18" charset="0"/>
                <a:cs typeface="Times New Roman" panose="02020603050405020304" pitchFamily="18" charset="0"/>
              </a:rPr>
              <a:t>sklearn.metrics</a:t>
            </a:r>
            <a:r>
              <a:rPr lang="en-US" sz="2000" dirty="0">
                <a:latin typeface="Times New Roman" panose="02020603050405020304" pitchFamily="18" charset="0"/>
                <a:cs typeface="Times New Roman" panose="02020603050405020304" pitchFamily="18" charset="0"/>
              </a:rPr>
              <a:t> import </a:t>
            </a:r>
            <a:r>
              <a:rPr lang="en-US" sz="2000" dirty="0" err="1">
                <a:latin typeface="Times New Roman" panose="02020603050405020304" pitchFamily="18" charset="0"/>
                <a:cs typeface="Times New Roman" panose="02020603050405020304" pitchFamily="18" charset="0"/>
              </a:rPr>
              <a:t>accuracy_score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confusion_matrix</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classification_report</a:t>
            </a:r>
            <a:r>
              <a:rPr lang="en-US" sz="2000" dirty="0">
                <a:latin typeface="Times New Roman" panose="02020603050405020304" pitchFamily="18" charset="0"/>
                <a:cs typeface="Times New Roman" panose="02020603050405020304" pitchFamily="18" charset="0"/>
              </a:rPr>
              <a:t> from </a:t>
            </a:r>
            <a:r>
              <a:rPr lang="en-US" sz="2000" dirty="0" err="1">
                <a:latin typeface="Times New Roman" panose="02020603050405020304" pitchFamily="18" charset="0"/>
                <a:cs typeface="Times New Roman" panose="02020603050405020304" pitchFamily="18" charset="0"/>
              </a:rPr>
              <a:t>sklearn.ensemble</a:t>
            </a:r>
            <a:r>
              <a:rPr lang="en-US" sz="2000" dirty="0">
                <a:latin typeface="Times New Roman" panose="02020603050405020304" pitchFamily="18" charset="0"/>
                <a:cs typeface="Times New Roman" panose="02020603050405020304" pitchFamily="18" charset="0"/>
              </a:rPr>
              <a:t> import </a:t>
            </a:r>
            <a:r>
              <a:rPr lang="en-US" sz="2000" dirty="0" err="1">
                <a:latin typeface="Times New Roman" panose="02020603050405020304" pitchFamily="18" charset="0"/>
                <a:cs typeface="Times New Roman" panose="02020603050405020304" pitchFamily="18" charset="0"/>
              </a:rPr>
              <a:t>VotingClassifier</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from </a:t>
            </a:r>
            <a:r>
              <a:rPr lang="en-US" sz="2000" dirty="0" err="1">
                <a:latin typeface="Times New Roman" panose="02020603050405020304" pitchFamily="18" charset="0"/>
                <a:cs typeface="Times New Roman" panose="02020603050405020304" pitchFamily="18" charset="0"/>
              </a:rPr>
              <a:t>Remote_User.models</a:t>
            </a:r>
            <a:r>
              <a:rPr lang="en-US" sz="2000" dirty="0">
                <a:latin typeface="Times New Roman" panose="02020603050405020304" pitchFamily="18" charset="0"/>
                <a:cs typeface="Times New Roman" panose="02020603050405020304" pitchFamily="18" charset="0"/>
              </a:rPr>
              <a:t> import ClientRegister_Model,drug_side_effect_prediction,detection_ratio,detection_accuracy from </a:t>
            </a:r>
            <a:r>
              <a:rPr lang="en-US" sz="2000" dirty="0" err="1">
                <a:latin typeface="Times New Roman" panose="02020603050405020304" pitchFamily="18" charset="0"/>
                <a:cs typeface="Times New Roman" panose="02020603050405020304" pitchFamily="18" charset="0"/>
              </a:rPr>
              <a:t>sklearn.tree</a:t>
            </a:r>
            <a:r>
              <a:rPr lang="en-US" sz="2000" dirty="0">
                <a:latin typeface="Times New Roman" panose="02020603050405020304" pitchFamily="18" charset="0"/>
                <a:cs typeface="Times New Roman" panose="02020603050405020304" pitchFamily="18" charset="0"/>
              </a:rPr>
              <a:t> import </a:t>
            </a:r>
            <a:r>
              <a:rPr lang="en-US" sz="2000" dirty="0" err="1">
                <a:latin typeface="Times New Roman" panose="02020603050405020304" pitchFamily="18" charset="0"/>
                <a:cs typeface="Times New Roman" panose="02020603050405020304" pitchFamily="18" charset="0"/>
              </a:rPr>
              <a:t>DecisionTreeClassifier</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if </a:t>
            </a:r>
            <a:r>
              <a:rPr lang="en-US" sz="2000" dirty="0" err="1">
                <a:latin typeface="Times New Roman" panose="02020603050405020304" pitchFamily="18" charset="0"/>
                <a:cs typeface="Times New Roman" panose="02020603050405020304" pitchFamily="18" charset="0"/>
              </a:rPr>
              <a:t>request.method</a:t>
            </a:r>
            <a:r>
              <a:rPr lang="en-US" sz="2000" dirty="0">
                <a:latin typeface="Times New Roman" panose="02020603050405020304" pitchFamily="18" charset="0"/>
                <a:cs typeface="Times New Roman" panose="02020603050405020304" pitchFamily="18" charset="0"/>
              </a:rPr>
              <a:t> == "POST" and 'submit1' in </a:t>
            </a:r>
            <a:r>
              <a:rPr lang="en-US" sz="2000" dirty="0" err="1">
                <a:latin typeface="Times New Roman" panose="02020603050405020304" pitchFamily="18" charset="0"/>
                <a:cs typeface="Times New Roman" panose="02020603050405020304" pitchFamily="18" charset="0"/>
              </a:rPr>
              <a:t>request.POST</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username = </a:t>
            </a:r>
            <a:r>
              <a:rPr lang="en-US" sz="2000" dirty="0" err="1">
                <a:latin typeface="Times New Roman" panose="02020603050405020304" pitchFamily="18" charset="0"/>
                <a:cs typeface="Times New Roman" panose="02020603050405020304" pitchFamily="18" charset="0"/>
              </a:rPr>
              <a:t>request.POST.get</a:t>
            </a:r>
            <a:r>
              <a:rPr lang="en-US" sz="2000" dirty="0">
                <a:latin typeface="Times New Roman" panose="02020603050405020304" pitchFamily="18" charset="0"/>
                <a:cs typeface="Times New Roman" panose="02020603050405020304" pitchFamily="18" charset="0"/>
              </a:rPr>
              <a:t>('username') password = </a:t>
            </a:r>
            <a:r>
              <a:rPr lang="en-US" sz="2000" dirty="0" err="1">
                <a:latin typeface="Times New Roman" panose="02020603050405020304" pitchFamily="18" charset="0"/>
                <a:cs typeface="Times New Roman" panose="02020603050405020304" pitchFamily="18" charset="0"/>
              </a:rPr>
              <a:t>request.POST.get</a:t>
            </a:r>
            <a:r>
              <a:rPr lang="en-US" sz="2000" dirty="0">
                <a:latin typeface="Times New Roman" panose="02020603050405020304" pitchFamily="18" charset="0"/>
                <a:cs typeface="Times New Roman" panose="02020603050405020304" pitchFamily="18" charset="0"/>
              </a:rPr>
              <a:t>('password’) </a:t>
            </a:r>
          </a:p>
          <a:p>
            <a:pPr marL="0" indent="0">
              <a:buNone/>
            </a:pPr>
            <a:r>
              <a:rPr lang="en-US" sz="2000" dirty="0">
                <a:latin typeface="Times New Roman" panose="02020603050405020304" pitchFamily="18" charset="0"/>
                <a:cs typeface="Times New Roman" panose="02020603050405020304" pitchFamily="18" charset="0"/>
              </a:rPr>
              <a:t>try:</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enter = </a:t>
            </a:r>
            <a:r>
              <a:rPr lang="en-US" sz="2000" dirty="0" err="1">
                <a:latin typeface="Times New Roman" panose="02020603050405020304" pitchFamily="18" charset="0"/>
                <a:cs typeface="Times New Roman" panose="02020603050405020304" pitchFamily="18" charset="0"/>
              </a:rPr>
              <a:t>ClientRegister_Model.objects.get</a:t>
            </a:r>
            <a:r>
              <a:rPr lang="en-US" sz="2000" dirty="0">
                <a:latin typeface="Times New Roman" panose="02020603050405020304" pitchFamily="18" charset="0"/>
                <a:cs typeface="Times New Roman" panose="02020603050405020304" pitchFamily="18" charset="0"/>
              </a:rPr>
              <a:t>(username=</a:t>
            </a:r>
            <a:r>
              <a:rPr lang="en-US" sz="2000" dirty="0" err="1">
                <a:latin typeface="Times New Roman" panose="02020603050405020304" pitchFamily="18" charset="0"/>
                <a:cs typeface="Times New Roman" panose="02020603050405020304" pitchFamily="18" charset="0"/>
              </a:rPr>
              <a:t>username,password</a:t>
            </a:r>
            <a:r>
              <a:rPr lang="en-US" sz="2000" dirty="0">
                <a:latin typeface="Times New Roman" panose="02020603050405020304" pitchFamily="18" charset="0"/>
                <a:cs typeface="Times New Roman" panose="02020603050405020304" pitchFamily="18" charset="0"/>
              </a:rPr>
              <a:t>=password) </a:t>
            </a:r>
            <a:r>
              <a:rPr lang="en-US" sz="2000" dirty="0" err="1">
                <a:latin typeface="Times New Roman" panose="02020603050405020304" pitchFamily="18" charset="0"/>
                <a:cs typeface="Times New Roman" panose="02020603050405020304" pitchFamily="18" charset="0"/>
              </a:rPr>
              <a:t>request.session</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userid</a:t>
            </a:r>
            <a:r>
              <a:rPr lang="en-US" sz="2000" dirty="0">
                <a:latin typeface="Times New Roman" panose="02020603050405020304" pitchFamily="18" charset="0"/>
                <a:cs typeface="Times New Roman" panose="02020603050405020304" pitchFamily="18" charset="0"/>
              </a:rPr>
              <a:t>"] = enter.id</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return redirect('</a:t>
            </a:r>
            <a:r>
              <a:rPr lang="en-US" sz="2000" dirty="0" err="1">
                <a:latin typeface="Times New Roman" panose="02020603050405020304" pitchFamily="18" charset="0"/>
                <a:cs typeface="Times New Roman" panose="02020603050405020304" pitchFamily="18" charset="0"/>
              </a:rPr>
              <a:t>ViewYourProfile</a:t>
            </a:r>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307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65BD14-B26A-421B-5E3B-05ADF080C7C2}"/>
              </a:ext>
            </a:extLst>
          </p:cNvPr>
          <p:cNvSpPr>
            <a:spLocks noGrp="1"/>
          </p:cNvSpPr>
          <p:nvPr>
            <p:ph idx="1"/>
          </p:nvPr>
        </p:nvSpPr>
        <p:spPr>
          <a:xfrm>
            <a:off x="838200" y="401216"/>
            <a:ext cx="10515600" cy="5775747"/>
          </a:xfrm>
        </p:spPr>
        <p:txBody>
          <a:bodyPr>
            <a:normAutofit fontScale="25000" lnSpcReduction="20000"/>
          </a:bodyPr>
          <a:lstStyle/>
          <a:p>
            <a:pPr marL="0" indent="0">
              <a:lnSpc>
                <a:spcPct val="120000"/>
              </a:lnSpc>
              <a:buNone/>
            </a:pPr>
            <a:r>
              <a:rPr lang="en-US" sz="8000" dirty="0">
                <a:latin typeface="Times New Roman" panose="02020603050405020304" pitchFamily="18" charset="0"/>
                <a:cs typeface="Times New Roman" panose="02020603050405020304" pitchFamily="18" charset="0"/>
              </a:rPr>
              <a:t>except:</a:t>
            </a:r>
            <a:endParaRPr lang="en-IN" sz="8000" dirty="0">
              <a:latin typeface="Times New Roman" panose="02020603050405020304" pitchFamily="18" charset="0"/>
              <a:cs typeface="Times New Roman" panose="02020603050405020304" pitchFamily="18" charset="0"/>
            </a:endParaRPr>
          </a:p>
          <a:p>
            <a:pPr marL="0" indent="0">
              <a:lnSpc>
                <a:spcPct val="120000"/>
              </a:lnSpc>
              <a:buNone/>
            </a:pPr>
            <a:r>
              <a:rPr lang="en-US" sz="8000" dirty="0">
                <a:latin typeface="Times New Roman" panose="02020603050405020304" pitchFamily="18" charset="0"/>
                <a:cs typeface="Times New Roman" panose="02020603050405020304" pitchFamily="18" charset="0"/>
              </a:rPr>
              <a:t>pass</a:t>
            </a:r>
            <a:endParaRPr lang="en-IN" sz="8000" dirty="0">
              <a:latin typeface="Times New Roman" panose="02020603050405020304" pitchFamily="18" charset="0"/>
              <a:cs typeface="Times New Roman" panose="02020603050405020304" pitchFamily="18" charset="0"/>
            </a:endParaRPr>
          </a:p>
          <a:p>
            <a:pPr marL="0" indent="0">
              <a:lnSpc>
                <a:spcPct val="120000"/>
              </a:lnSpc>
              <a:buNone/>
            </a:pPr>
            <a:r>
              <a:rPr lang="en-US" sz="8000" dirty="0">
                <a:latin typeface="Times New Roman" panose="02020603050405020304" pitchFamily="18" charset="0"/>
                <a:cs typeface="Times New Roman" panose="02020603050405020304" pitchFamily="18" charset="0"/>
              </a:rPr>
              <a:t>return render(</a:t>
            </a:r>
            <a:r>
              <a:rPr lang="en-US" sz="8000" dirty="0" err="1">
                <a:latin typeface="Times New Roman" panose="02020603050405020304" pitchFamily="18" charset="0"/>
                <a:cs typeface="Times New Roman" panose="02020603050405020304" pitchFamily="18" charset="0"/>
              </a:rPr>
              <a:t>request,'RUser</a:t>
            </a:r>
            <a:r>
              <a:rPr lang="en-US" sz="8000" dirty="0">
                <a:latin typeface="Times New Roman" panose="02020603050405020304" pitchFamily="18" charset="0"/>
                <a:cs typeface="Times New Roman" panose="02020603050405020304" pitchFamily="18" charset="0"/>
              </a:rPr>
              <a:t>/login.html') def Register1(request):</a:t>
            </a:r>
            <a:endParaRPr lang="en-IN" sz="8000" dirty="0">
              <a:latin typeface="Times New Roman" panose="02020603050405020304" pitchFamily="18" charset="0"/>
              <a:cs typeface="Times New Roman" panose="02020603050405020304" pitchFamily="18" charset="0"/>
            </a:endParaRPr>
          </a:p>
          <a:p>
            <a:pPr marL="0" indent="0">
              <a:lnSpc>
                <a:spcPct val="120000"/>
              </a:lnSpc>
              <a:buNone/>
            </a:pPr>
            <a:r>
              <a:rPr lang="en-US" sz="8000" dirty="0">
                <a:latin typeface="Times New Roman" panose="02020603050405020304" pitchFamily="18" charset="0"/>
                <a:cs typeface="Times New Roman" panose="02020603050405020304" pitchFamily="18" charset="0"/>
              </a:rPr>
              <a:t>if </a:t>
            </a:r>
            <a:r>
              <a:rPr lang="en-US" sz="8000" dirty="0" err="1">
                <a:latin typeface="Times New Roman" panose="02020603050405020304" pitchFamily="18" charset="0"/>
                <a:cs typeface="Times New Roman" panose="02020603050405020304" pitchFamily="18" charset="0"/>
              </a:rPr>
              <a:t>request.method</a:t>
            </a:r>
            <a:r>
              <a:rPr lang="en-US" sz="8000" dirty="0">
                <a:latin typeface="Times New Roman" panose="02020603050405020304" pitchFamily="18" charset="0"/>
                <a:cs typeface="Times New Roman" panose="02020603050405020304" pitchFamily="18" charset="0"/>
              </a:rPr>
              <a:t> == "POST":</a:t>
            </a:r>
            <a:endParaRPr lang="en-IN" sz="8000" dirty="0">
              <a:latin typeface="Times New Roman" panose="02020603050405020304" pitchFamily="18" charset="0"/>
              <a:cs typeface="Times New Roman" panose="02020603050405020304" pitchFamily="18" charset="0"/>
            </a:endParaRPr>
          </a:p>
          <a:p>
            <a:pPr marL="0" indent="0">
              <a:lnSpc>
                <a:spcPct val="120000"/>
              </a:lnSpc>
              <a:buNone/>
            </a:pPr>
            <a:r>
              <a:rPr lang="en-US" sz="8000" dirty="0">
                <a:latin typeface="Times New Roman" panose="02020603050405020304" pitchFamily="18" charset="0"/>
                <a:cs typeface="Times New Roman" panose="02020603050405020304" pitchFamily="18" charset="0"/>
              </a:rPr>
              <a:t>username = </a:t>
            </a:r>
            <a:r>
              <a:rPr lang="en-US" sz="8000" dirty="0" err="1">
                <a:latin typeface="Times New Roman" panose="02020603050405020304" pitchFamily="18" charset="0"/>
                <a:cs typeface="Times New Roman" panose="02020603050405020304" pitchFamily="18" charset="0"/>
              </a:rPr>
              <a:t>request.POST.get</a:t>
            </a:r>
            <a:r>
              <a:rPr lang="en-US" sz="8000" dirty="0">
                <a:latin typeface="Times New Roman" panose="02020603050405020304" pitchFamily="18" charset="0"/>
                <a:cs typeface="Times New Roman" panose="02020603050405020304" pitchFamily="18" charset="0"/>
              </a:rPr>
              <a:t>('username') email = </a:t>
            </a:r>
            <a:r>
              <a:rPr lang="en-US" sz="8000" dirty="0" err="1">
                <a:latin typeface="Times New Roman" panose="02020603050405020304" pitchFamily="18" charset="0"/>
                <a:cs typeface="Times New Roman" panose="02020603050405020304" pitchFamily="18" charset="0"/>
              </a:rPr>
              <a:t>request.POST.get</a:t>
            </a:r>
            <a:r>
              <a:rPr lang="en-US" sz="8000" dirty="0">
                <a:latin typeface="Times New Roman" panose="02020603050405020304" pitchFamily="18" charset="0"/>
                <a:cs typeface="Times New Roman" panose="02020603050405020304" pitchFamily="18" charset="0"/>
              </a:rPr>
              <a:t>('email') password = </a:t>
            </a:r>
            <a:r>
              <a:rPr lang="en-US" sz="8000" dirty="0" err="1">
                <a:latin typeface="Times New Roman" panose="02020603050405020304" pitchFamily="18" charset="0"/>
                <a:cs typeface="Times New Roman" panose="02020603050405020304" pitchFamily="18" charset="0"/>
              </a:rPr>
              <a:t>request.POST.get</a:t>
            </a:r>
            <a:r>
              <a:rPr lang="en-US" sz="8000" dirty="0">
                <a:latin typeface="Times New Roman" panose="02020603050405020304" pitchFamily="18" charset="0"/>
                <a:cs typeface="Times New Roman" panose="02020603050405020304" pitchFamily="18" charset="0"/>
              </a:rPr>
              <a:t>('password') </a:t>
            </a:r>
            <a:r>
              <a:rPr lang="en-US" sz="8000" dirty="0" err="1">
                <a:latin typeface="Times New Roman" panose="02020603050405020304" pitchFamily="18" charset="0"/>
                <a:cs typeface="Times New Roman" panose="02020603050405020304" pitchFamily="18" charset="0"/>
              </a:rPr>
              <a:t>phoneno</a:t>
            </a:r>
            <a:r>
              <a:rPr lang="en-US" sz="8000" dirty="0">
                <a:latin typeface="Times New Roman" panose="02020603050405020304" pitchFamily="18" charset="0"/>
                <a:cs typeface="Times New Roman" panose="02020603050405020304" pitchFamily="18" charset="0"/>
              </a:rPr>
              <a:t> = </a:t>
            </a:r>
            <a:r>
              <a:rPr lang="en-US" sz="8000" dirty="0" err="1">
                <a:latin typeface="Times New Roman" panose="02020603050405020304" pitchFamily="18" charset="0"/>
                <a:cs typeface="Times New Roman" panose="02020603050405020304" pitchFamily="18" charset="0"/>
              </a:rPr>
              <a:t>request.POST.get</a:t>
            </a:r>
            <a:r>
              <a:rPr lang="en-US" sz="8000" dirty="0">
                <a:latin typeface="Times New Roman" panose="02020603050405020304" pitchFamily="18" charset="0"/>
                <a:cs typeface="Times New Roman" panose="02020603050405020304" pitchFamily="18" charset="0"/>
              </a:rPr>
              <a:t>('</a:t>
            </a:r>
            <a:r>
              <a:rPr lang="en-US" sz="8000" dirty="0" err="1">
                <a:latin typeface="Times New Roman" panose="02020603050405020304" pitchFamily="18" charset="0"/>
                <a:cs typeface="Times New Roman" panose="02020603050405020304" pitchFamily="18" charset="0"/>
              </a:rPr>
              <a:t>phoneno</a:t>
            </a:r>
            <a:r>
              <a:rPr lang="en-US" sz="8000" dirty="0">
                <a:latin typeface="Times New Roman" panose="02020603050405020304" pitchFamily="18" charset="0"/>
                <a:cs typeface="Times New Roman" panose="02020603050405020304" pitchFamily="18" charset="0"/>
              </a:rPr>
              <a:t>') country = </a:t>
            </a:r>
            <a:r>
              <a:rPr lang="en-US" sz="8000" dirty="0" err="1">
                <a:latin typeface="Times New Roman" panose="02020603050405020304" pitchFamily="18" charset="0"/>
                <a:cs typeface="Times New Roman" panose="02020603050405020304" pitchFamily="18" charset="0"/>
              </a:rPr>
              <a:t>request.POST.get</a:t>
            </a:r>
            <a:r>
              <a:rPr lang="en-US" sz="8000" dirty="0">
                <a:latin typeface="Times New Roman" panose="02020603050405020304" pitchFamily="18" charset="0"/>
                <a:cs typeface="Times New Roman" panose="02020603050405020304" pitchFamily="18" charset="0"/>
              </a:rPr>
              <a:t>('country') state = </a:t>
            </a:r>
            <a:r>
              <a:rPr lang="en-US" sz="8000" dirty="0" err="1">
                <a:latin typeface="Times New Roman" panose="02020603050405020304" pitchFamily="18" charset="0"/>
                <a:cs typeface="Times New Roman" panose="02020603050405020304" pitchFamily="18" charset="0"/>
              </a:rPr>
              <a:t>request.POST.get</a:t>
            </a:r>
            <a:r>
              <a:rPr lang="en-US" sz="8000" dirty="0">
                <a:latin typeface="Times New Roman" panose="02020603050405020304" pitchFamily="18" charset="0"/>
                <a:cs typeface="Times New Roman" panose="02020603050405020304" pitchFamily="18" charset="0"/>
              </a:rPr>
              <a:t>('state')</a:t>
            </a:r>
            <a:endParaRPr lang="en-IN" sz="8000" dirty="0">
              <a:latin typeface="Times New Roman" panose="02020603050405020304" pitchFamily="18" charset="0"/>
              <a:cs typeface="Times New Roman" panose="02020603050405020304" pitchFamily="18" charset="0"/>
            </a:endParaRPr>
          </a:p>
          <a:p>
            <a:pPr marL="0" indent="0">
              <a:lnSpc>
                <a:spcPct val="120000"/>
              </a:lnSpc>
              <a:buNone/>
            </a:pPr>
            <a:r>
              <a:rPr lang="en-US" sz="8000" dirty="0">
                <a:latin typeface="Times New Roman" panose="02020603050405020304" pitchFamily="18" charset="0"/>
                <a:cs typeface="Times New Roman" panose="02020603050405020304" pitchFamily="18" charset="0"/>
              </a:rPr>
              <a:t>city = </a:t>
            </a:r>
            <a:r>
              <a:rPr lang="en-US" sz="8000" dirty="0" err="1">
                <a:latin typeface="Times New Roman" panose="02020603050405020304" pitchFamily="18" charset="0"/>
                <a:cs typeface="Times New Roman" panose="02020603050405020304" pitchFamily="18" charset="0"/>
              </a:rPr>
              <a:t>request.POST.get</a:t>
            </a:r>
            <a:r>
              <a:rPr lang="en-US" sz="8000" dirty="0">
                <a:latin typeface="Times New Roman" panose="02020603050405020304" pitchFamily="18" charset="0"/>
                <a:cs typeface="Times New Roman" panose="02020603050405020304" pitchFamily="18" charset="0"/>
              </a:rPr>
              <a:t>('city') address = </a:t>
            </a:r>
            <a:r>
              <a:rPr lang="en-US" sz="8000" dirty="0" err="1">
                <a:latin typeface="Times New Roman" panose="02020603050405020304" pitchFamily="18" charset="0"/>
                <a:cs typeface="Times New Roman" panose="02020603050405020304" pitchFamily="18" charset="0"/>
              </a:rPr>
              <a:t>request.POST.get</a:t>
            </a:r>
            <a:r>
              <a:rPr lang="en-US" sz="8000" dirty="0">
                <a:latin typeface="Times New Roman" panose="02020603050405020304" pitchFamily="18" charset="0"/>
                <a:cs typeface="Times New Roman" panose="02020603050405020304" pitchFamily="18" charset="0"/>
              </a:rPr>
              <a:t>('address') gender = </a:t>
            </a:r>
            <a:r>
              <a:rPr lang="en-US" sz="8000" dirty="0" err="1">
                <a:latin typeface="Times New Roman" panose="02020603050405020304" pitchFamily="18" charset="0"/>
                <a:cs typeface="Times New Roman" panose="02020603050405020304" pitchFamily="18" charset="0"/>
              </a:rPr>
              <a:t>request.POST.get</a:t>
            </a:r>
            <a:r>
              <a:rPr lang="en-US" sz="8000" dirty="0">
                <a:latin typeface="Times New Roman" panose="02020603050405020304" pitchFamily="18" charset="0"/>
                <a:cs typeface="Times New Roman" panose="02020603050405020304" pitchFamily="18" charset="0"/>
              </a:rPr>
              <a:t>('gender')</a:t>
            </a:r>
            <a:endParaRPr lang="en-IN" sz="8000" dirty="0">
              <a:latin typeface="Times New Roman" panose="02020603050405020304" pitchFamily="18" charset="0"/>
              <a:cs typeface="Times New Roman" panose="02020603050405020304" pitchFamily="18" charset="0"/>
            </a:endParaRPr>
          </a:p>
          <a:p>
            <a:pPr marL="0" indent="0">
              <a:lnSpc>
                <a:spcPct val="120000"/>
              </a:lnSpc>
              <a:buNone/>
            </a:pPr>
            <a:r>
              <a:rPr lang="en-US" sz="8000" dirty="0" err="1">
                <a:latin typeface="Times New Roman" panose="02020603050405020304" pitchFamily="18" charset="0"/>
                <a:cs typeface="Times New Roman" panose="02020603050405020304" pitchFamily="18" charset="0"/>
              </a:rPr>
              <a:t>ClientRegister_Model.objects.create</a:t>
            </a:r>
            <a:r>
              <a:rPr lang="en-US" sz="8000" dirty="0">
                <a:latin typeface="Times New Roman" panose="02020603050405020304" pitchFamily="18" charset="0"/>
                <a:cs typeface="Times New Roman" panose="02020603050405020304" pitchFamily="18" charset="0"/>
              </a:rPr>
              <a:t>(username=username, email=email, password=password, </a:t>
            </a:r>
            <a:r>
              <a:rPr lang="en-US" sz="8000" dirty="0" err="1">
                <a:latin typeface="Times New Roman" panose="02020603050405020304" pitchFamily="18" charset="0"/>
                <a:cs typeface="Times New Roman" panose="02020603050405020304" pitchFamily="18" charset="0"/>
              </a:rPr>
              <a:t>phoneno</a:t>
            </a:r>
            <a:r>
              <a:rPr lang="en-US" sz="8000" dirty="0">
                <a:latin typeface="Times New Roman" panose="02020603050405020304" pitchFamily="18" charset="0"/>
                <a:cs typeface="Times New Roman" panose="02020603050405020304" pitchFamily="18" charset="0"/>
              </a:rPr>
              <a:t>=</a:t>
            </a:r>
            <a:r>
              <a:rPr lang="en-US" sz="8000" dirty="0" err="1">
                <a:latin typeface="Times New Roman" panose="02020603050405020304" pitchFamily="18" charset="0"/>
                <a:cs typeface="Times New Roman" panose="02020603050405020304" pitchFamily="18" charset="0"/>
              </a:rPr>
              <a:t>phoneno</a:t>
            </a:r>
            <a:r>
              <a:rPr lang="en-US" sz="8000" dirty="0">
                <a:latin typeface="Times New Roman" panose="02020603050405020304" pitchFamily="18" charset="0"/>
                <a:cs typeface="Times New Roman" panose="02020603050405020304" pitchFamily="18" charset="0"/>
              </a:rPr>
              <a:t>,</a:t>
            </a:r>
            <a:endParaRPr lang="en-IN" sz="8000" dirty="0">
              <a:latin typeface="Times New Roman" panose="02020603050405020304" pitchFamily="18" charset="0"/>
              <a:cs typeface="Times New Roman" panose="02020603050405020304" pitchFamily="18" charset="0"/>
            </a:endParaRPr>
          </a:p>
          <a:p>
            <a:pPr marL="0" indent="0">
              <a:lnSpc>
                <a:spcPct val="120000"/>
              </a:lnSpc>
              <a:buNone/>
            </a:pPr>
            <a:r>
              <a:rPr lang="en-US" sz="8000" dirty="0">
                <a:latin typeface="Times New Roman" panose="02020603050405020304" pitchFamily="18" charset="0"/>
                <a:cs typeface="Times New Roman" panose="02020603050405020304" pitchFamily="18" charset="0"/>
              </a:rPr>
              <a:t>country=country, state=state, city=city, address=address,</a:t>
            </a:r>
            <a:endParaRPr lang="en-IN" sz="8000" dirty="0">
              <a:latin typeface="Times New Roman" panose="02020603050405020304" pitchFamily="18" charset="0"/>
              <a:cs typeface="Times New Roman" panose="02020603050405020304" pitchFamily="18" charset="0"/>
            </a:endParaRPr>
          </a:p>
          <a:p>
            <a:pPr marL="0" indent="0">
              <a:lnSpc>
                <a:spcPct val="120000"/>
              </a:lnSpc>
              <a:buNone/>
            </a:pPr>
            <a:r>
              <a:rPr lang="en-US" sz="8000" dirty="0">
                <a:latin typeface="Times New Roman" panose="02020603050405020304" pitchFamily="18" charset="0"/>
                <a:cs typeface="Times New Roman" panose="02020603050405020304" pitchFamily="18" charset="0"/>
              </a:rPr>
              <a:t>gender=gender)</a:t>
            </a:r>
            <a:endParaRPr lang="en-IN" sz="8000" dirty="0">
              <a:latin typeface="Times New Roman" panose="02020603050405020304" pitchFamily="18" charset="0"/>
              <a:cs typeface="Times New Roman" panose="02020603050405020304" pitchFamily="18" charset="0"/>
            </a:endParaRPr>
          </a:p>
          <a:p>
            <a:pPr marL="0" indent="0">
              <a:lnSpc>
                <a:spcPct val="120000"/>
              </a:lnSpc>
              <a:buNone/>
            </a:pPr>
            <a:r>
              <a:rPr lang="en-US" sz="8000" dirty="0">
                <a:latin typeface="Times New Roman" panose="02020603050405020304" pitchFamily="18" charset="0"/>
                <a:cs typeface="Times New Roman" panose="02020603050405020304" pitchFamily="18" charset="0"/>
              </a:rPr>
              <a:t>obj = "Registered Successfully"</a:t>
            </a:r>
            <a:endParaRPr lang="en-IN" sz="8000" dirty="0">
              <a:latin typeface="Times New Roman" panose="02020603050405020304" pitchFamily="18" charset="0"/>
              <a:cs typeface="Times New Roman" panose="02020603050405020304" pitchFamily="18" charset="0"/>
            </a:endParaRPr>
          </a:p>
          <a:p>
            <a:pPr marL="0" indent="0">
              <a:lnSpc>
                <a:spcPct val="120000"/>
              </a:lnSpc>
              <a:buNone/>
            </a:pPr>
            <a:r>
              <a:rPr lang="en-US" sz="8000" dirty="0">
                <a:latin typeface="Times New Roman" panose="02020603050405020304" pitchFamily="18" charset="0"/>
                <a:cs typeface="Times New Roman" panose="02020603050405020304" pitchFamily="18" charset="0"/>
              </a:rPr>
              <a:t>return render(request, 'RUser/Register1.html', {'object': obj})</a:t>
            </a:r>
            <a:endParaRPr lang="en-IN" sz="80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31131167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E5E19E-170B-8458-29DF-EC5034D6791C}"/>
              </a:ext>
            </a:extLst>
          </p:cNvPr>
          <p:cNvSpPr>
            <a:spLocks noGrp="1"/>
          </p:cNvSpPr>
          <p:nvPr>
            <p:ph idx="1"/>
          </p:nvPr>
        </p:nvSpPr>
        <p:spPr>
          <a:xfrm>
            <a:off x="838200" y="569167"/>
            <a:ext cx="10515600" cy="5607796"/>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else:</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return render(</a:t>
            </a:r>
            <a:r>
              <a:rPr lang="en-US" sz="2000" dirty="0" err="1">
                <a:latin typeface="Times New Roman" panose="02020603050405020304" pitchFamily="18" charset="0"/>
                <a:cs typeface="Times New Roman" panose="02020603050405020304" pitchFamily="18" charset="0"/>
              </a:rPr>
              <a:t>request,'RUser</a:t>
            </a:r>
            <a:r>
              <a:rPr lang="en-US" sz="2000" dirty="0">
                <a:latin typeface="Times New Roman" panose="02020603050405020304" pitchFamily="18" charset="0"/>
                <a:cs typeface="Times New Roman" panose="02020603050405020304" pitchFamily="18" charset="0"/>
              </a:rPr>
              <a:t>/Register1.html')</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def </a:t>
            </a:r>
            <a:r>
              <a:rPr lang="en-US" sz="2000" dirty="0" err="1">
                <a:latin typeface="Times New Roman" panose="02020603050405020304" pitchFamily="18" charset="0"/>
                <a:cs typeface="Times New Roman" panose="02020603050405020304" pitchFamily="18" charset="0"/>
              </a:rPr>
              <a:t>ViewYourProfile</a:t>
            </a:r>
            <a:r>
              <a:rPr lang="en-US" sz="2000" dirty="0">
                <a:latin typeface="Times New Roman" panose="02020603050405020304" pitchFamily="18" charset="0"/>
                <a:cs typeface="Times New Roman" panose="02020603050405020304" pitchFamily="18" charset="0"/>
              </a:rPr>
              <a:t>(request): </a:t>
            </a:r>
            <a:r>
              <a:rPr lang="en-US" sz="2000" dirty="0" err="1">
                <a:latin typeface="Times New Roman" panose="02020603050405020304" pitchFamily="18" charset="0"/>
                <a:cs typeface="Times New Roman" panose="02020603050405020304" pitchFamily="18" charset="0"/>
              </a:rPr>
              <a:t>userid</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request.session</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userid</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obj = </a:t>
            </a:r>
            <a:r>
              <a:rPr lang="en-US" sz="2000" dirty="0" err="1">
                <a:latin typeface="Times New Roman" panose="02020603050405020304" pitchFamily="18" charset="0"/>
                <a:cs typeface="Times New Roman" panose="02020603050405020304" pitchFamily="18" charset="0"/>
              </a:rPr>
              <a:t>ClientRegister_Model.objects.get</a:t>
            </a:r>
            <a:r>
              <a:rPr lang="en-US" sz="2000" dirty="0">
                <a:latin typeface="Times New Roman" panose="02020603050405020304" pitchFamily="18" charset="0"/>
                <a:cs typeface="Times New Roman" panose="02020603050405020304" pitchFamily="18" charset="0"/>
              </a:rPr>
              <a:t>(id= </a:t>
            </a:r>
            <a:r>
              <a:rPr lang="en-US" sz="2000" dirty="0" err="1">
                <a:latin typeface="Times New Roman" panose="02020603050405020304" pitchFamily="18" charset="0"/>
                <a:cs typeface="Times New Roman" panose="02020603050405020304" pitchFamily="18" charset="0"/>
              </a:rPr>
              <a:t>userid</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return render(</a:t>
            </a:r>
            <a:r>
              <a:rPr lang="en-US" sz="2000" dirty="0" err="1">
                <a:latin typeface="Times New Roman" panose="02020603050405020304" pitchFamily="18" charset="0"/>
                <a:cs typeface="Times New Roman" panose="02020603050405020304" pitchFamily="18" charset="0"/>
              </a:rPr>
              <a:t>request,'RUser</a:t>
            </a:r>
            <a:r>
              <a:rPr lang="en-US" sz="2000" dirty="0">
                <a:latin typeface="Times New Roman" panose="02020603050405020304" pitchFamily="18" charset="0"/>
                <a:cs typeface="Times New Roman" panose="02020603050405020304" pitchFamily="18" charset="0"/>
              </a:rPr>
              <a:t>/ViewYourProfile.html',{'</a:t>
            </a:r>
            <a:r>
              <a:rPr lang="en-US" sz="2000" dirty="0" err="1">
                <a:latin typeface="Times New Roman" panose="02020603050405020304" pitchFamily="18" charset="0"/>
                <a:cs typeface="Times New Roman" panose="02020603050405020304" pitchFamily="18" charset="0"/>
              </a:rPr>
              <a:t>object':obj</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def </a:t>
            </a:r>
            <a:r>
              <a:rPr lang="en-US" sz="2000" dirty="0" err="1">
                <a:latin typeface="Times New Roman" panose="02020603050405020304" pitchFamily="18" charset="0"/>
                <a:cs typeface="Times New Roman" panose="02020603050405020304" pitchFamily="18" charset="0"/>
              </a:rPr>
              <a:t>Predict_Drug_Side_Effect_Type</a:t>
            </a:r>
            <a:r>
              <a:rPr lang="en-US" sz="2000" dirty="0">
                <a:latin typeface="Times New Roman" panose="02020603050405020304" pitchFamily="18" charset="0"/>
                <a:cs typeface="Times New Roman" panose="02020603050405020304" pitchFamily="18" charset="0"/>
              </a:rPr>
              <a:t>(request): if </a:t>
            </a:r>
            <a:r>
              <a:rPr lang="en-US" sz="2000" dirty="0" err="1">
                <a:latin typeface="Times New Roman" panose="02020603050405020304" pitchFamily="18" charset="0"/>
                <a:cs typeface="Times New Roman" panose="02020603050405020304" pitchFamily="18" charset="0"/>
              </a:rPr>
              <a:t>request.method</a:t>
            </a:r>
            <a:r>
              <a:rPr lang="en-US" sz="2000" dirty="0">
                <a:latin typeface="Times New Roman" panose="02020603050405020304" pitchFamily="18" charset="0"/>
                <a:cs typeface="Times New Roman" panose="02020603050405020304" pitchFamily="18" charset="0"/>
              </a:rPr>
              <a:t> == "POST":</a:t>
            </a:r>
          </a:p>
          <a:p>
            <a:pPr marL="0" indent="0">
              <a:buNone/>
            </a:pPr>
            <a:r>
              <a:rPr lang="en-US" sz="2000" dirty="0" err="1">
                <a:latin typeface="Times New Roman" panose="02020603050405020304" pitchFamily="18" charset="0"/>
                <a:cs typeface="Times New Roman" panose="02020603050405020304" pitchFamily="18" charset="0"/>
              </a:rPr>
              <a:t>uid</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request.POST.get</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uid</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err="1">
                <a:latin typeface="Times New Roman" panose="02020603050405020304" pitchFamily="18" charset="0"/>
                <a:cs typeface="Times New Roman" panose="02020603050405020304" pitchFamily="18" charset="0"/>
              </a:rPr>
              <a:t>Drug_Name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request.POST.get</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Drug_Name</a:t>
            </a:r>
            <a:r>
              <a:rPr lang="en-US" sz="2000" dirty="0">
                <a:latin typeface="Times New Roman" panose="02020603050405020304" pitchFamily="18" charset="0"/>
                <a:cs typeface="Times New Roman" panose="02020603050405020304" pitchFamily="18" charset="0"/>
              </a:rPr>
              <a:t>') Condition1= </a:t>
            </a:r>
            <a:r>
              <a:rPr lang="en-US" sz="2000" dirty="0" err="1">
                <a:latin typeface="Times New Roman" panose="02020603050405020304" pitchFamily="18" charset="0"/>
                <a:cs typeface="Times New Roman" panose="02020603050405020304" pitchFamily="18" charset="0"/>
              </a:rPr>
              <a:t>request.POST.get</a:t>
            </a:r>
            <a:r>
              <a:rPr lang="en-US" sz="2000" dirty="0">
                <a:latin typeface="Times New Roman" panose="02020603050405020304" pitchFamily="18" charset="0"/>
                <a:cs typeface="Times New Roman" panose="02020603050405020304" pitchFamily="18" charset="0"/>
              </a:rPr>
              <a:t>('Condition1')</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err="1">
                <a:latin typeface="Times New Roman" panose="02020603050405020304" pitchFamily="18" charset="0"/>
                <a:cs typeface="Times New Roman" panose="02020603050405020304" pitchFamily="18" charset="0"/>
              </a:rPr>
              <a:t>df</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pd.read_csv</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Datasets.csv',encoding</a:t>
            </a:r>
            <a:r>
              <a:rPr lang="en-US" sz="2000" dirty="0">
                <a:latin typeface="Times New Roman" panose="02020603050405020304" pitchFamily="18" charset="0"/>
                <a:cs typeface="Times New Roman" panose="02020603050405020304" pitchFamily="18" charset="0"/>
              </a:rPr>
              <a:t>='latin-1') </a:t>
            </a:r>
            <a:r>
              <a:rPr lang="en-US" sz="2000" dirty="0" err="1">
                <a:latin typeface="Times New Roman" panose="02020603050405020304" pitchFamily="18" charset="0"/>
                <a:cs typeface="Times New Roman" panose="02020603050405020304" pitchFamily="18" charset="0"/>
              </a:rPr>
              <a:t>df</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err="1">
                <a:latin typeface="Times New Roman" panose="02020603050405020304" pitchFamily="18" charset="0"/>
                <a:cs typeface="Times New Roman" panose="02020603050405020304" pitchFamily="18" charset="0"/>
              </a:rPr>
              <a:t>df.columns</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def </a:t>
            </a:r>
            <a:r>
              <a:rPr lang="en-US" sz="2000" dirty="0" err="1">
                <a:latin typeface="Times New Roman" panose="02020603050405020304" pitchFamily="18" charset="0"/>
                <a:cs typeface="Times New Roman" panose="02020603050405020304" pitchFamily="18" charset="0"/>
              </a:rPr>
              <a:t>apply_results</a:t>
            </a:r>
            <a:r>
              <a:rPr lang="en-US" sz="2000" dirty="0">
                <a:latin typeface="Times New Roman" panose="02020603050405020304" pitchFamily="18" charset="0"/>
                <a:cs typeface="Times New Roman" panose="02020603050405020304" pitchFamily="18" charset="0"/>
              </a:rPr>
              <a:t>(Rating): if (int(Rating) &lt;= 7):</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return 0 # Low Side Effect else:</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return 1 # High Side Effect</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err="1">
                <a:latin typeface="Times New Roman" panose="02020603050405020304" pitchFamily="18" charset="0"/>
                <a:cs typeface="Times New Roman" panose="02020603050405020304" pitchFamily="18" charset="0"/>
              </a:rPr>
              <a:t>df</a:t>
            </a:r>
            <a:r>
              <a:rPr lang="en-US" sz="2000" dirty="0">
                <a:latin typeface="Times New Roman" panose="02020603050405020304" pitchFamily="18" charset="0"/>
                <a:cs typeface="Times New Roman" panose="02020603050405020304" pitchFamily="18" charset="0"/>
              </a:rPr>
              <a:t>['Results'] = </a:t>
            </a:r>
            <a:r>
              <a:rPr lang="en-US" sz="2000" dirty="0" err="1">
                <a:latin typeface="Times New Roman" panose="02020603050405020304" pitchFamily="18" charset="0"/>
                <a:cs typeface="Times New Roman" panose="02020603050405020304" pitchFamily="18" charset="0"/>
              </a:rPr>
              <a:t>df</a:t>
            </a:r>
            <a:r>
              <a:rPr lang="en-US" sz="2000" dirty="0">
                <a:latin typeface="Times New Roman" panose="02020603050405020304" pitchFamily="18" charset="0"/>
                <a:cs typeface="Times New Roman" panose="02020603050405020304" pitchFamily="18" charset="0"/>
              </a:rPr>
              <a:t>['Rating'].apply(</a:t>
            </a:r>
            <a:r>
              <a:rPr lang="en-US" sz="2000" dirty="0" err="1">
                <a:latin typeface="Times New Roman" panose="02020603050405020304" pitchFamily="18" charset="0"/>
                <a:cs typeface="Times New Roman" panose="02020603050405020304" pitchFamily="18" charset="0"/>
              </a:rPr>
              <a:t>apply_results</a:t>
            </a:r>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988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FEE17A-4F38-47AD-1AC3-A2035BCD14DD}"/>
              </a:ext>
            </a:extLst>
          </p:cNvPr>
          <p:cNvSpPr>
            <a:spLocks noGrp="1"/>
          </p:cNvSpPr>
          <p:nvPr>
            <p:ph idx="1"/>
          </p:nvPr>
        </p:nvSpPr>
        <p:spPr>
          <a:xfrm>
            <a:off x="838200" y="410547"/>
            <a:ext cx="10515600" cy="5766416"/>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cv = </a:t>
            </a:r>
            <a:r>
              <a:rPr lang="en-US" sz="2000" dirty="0" err="1">
                <a:latin typeface="Times New Roman" panose="02020603050405020304" pitchFamily="18" charset="0"/>
                <a:cs typeface="Times New Roman" panose="02020603050405020304" pitchFamily="18" charset="0"/>
              </a:rPr>
              <a:t>CountVectorizer</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X = </a:t>
            </a:r>
            <a:r>
              <a:rPr lang="en-US" sz="2000" dirty="0" err="1">
                <a:latin typeface="Times New Roman" panose="02020603050405020304" pitchFamily="18" charset="0"/>
                <a:cs typeface="Times New Roman" panose="02020603050405020304" pitchFamily="18" charset="0"/>
              </a:rPr>
              <a:t>df</a:t>
            </a:r>
            <a:r>
              <a:rPr lang="en-US" sz="2000" dirty="0">
                <a:latin typeface="Times New Roman" panose="02020603050405020304" pitchFamily="18" charset="0"/>
                <a:cs typeface="Times New Roman" panose="02020603050405020304" pitchFamily="18" charset="0"/>
              </a:rPr>
              <a:t>['UID'].apply(str) y = </a:t>
            </a:r>
            <a:r>
              <a:rPr lang="en-US" sz="2000" dirty="0" err="1">
                <a:latin typeface="Times New Roman" panose="02020603050405020304" pitchFamily="18" charset="0"/>
                <a:cs typeface="Times New Roman" panose="02020603050405020304" pitchFamily="18" charset="0"/>
              </a:rPr>
              <a:t>df</a:t>
            </a:r>
            <a:r>
              <a:rPr lang="en-US" sz="2000" dirty="0">
                <a:latin typeface="Times New Roman" panose="02020603050405020304" pitchFamily="18" charset="0"/>
                <a:cs typeface="Times New Roman" panose="02020603050405020304" pitchFamily="18" charset="0"/>
              </a:rPr>
              <a:t>['Results']</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print("UID") print(X) print("Results") print(y)</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cv = </a:t>
            </a:r>
            <a:r>
              <a:rPr lang="en-US" sz="2000" dirty="0" err="1">
                <a:latin typeface="Times New Roman" panose="02020603050405020304" pitchFamily="18" charset="0"/>
                <a:cs typeface="Times New Roman" panose="02020603050405020304" pitchFamily="18" charset="0"/>
              </a:rPr>
              <a:t>CountVectorizer</a:t>
            </a:r>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X = </a:t>
            </a:r>
            <a:r>
              <a:rPr lang="en-US" sz="2000" dirty="0" err="1">
                <a:latin typeface="Times New Roman" panose="02020603050405020304" pitchFamily="18" charset="0"/>
                <a:cs typeface="Times New Roman" panose="02020603050405020304" pitchFamily="18" charset="0"/>
              </a:rPr>
              <a:t>cv.fit_transform</a:t>
            </a:r>
            <a:r>
              <a:rPr lang="en-US" sz="2000" dirty="0">
                <a:latin typeface="Times New Roman" panose="02020603050405020304" pitchFamily="18" charset="0"/>
                <a:cs typeface="Times New Roman" panose="02020603050405020304" pitchFamily="18" charset="0"/>
              </a:rPr>
              <a:t>(X) models = []</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from </a:t>
            </a:r>
            <a:r>
              <a:rPr lang="en-US" sz="2000" dirty="0" err="1">
                <a:latin typeface="Times New Roman" panose="02020603050405020304" pitchFamily="18" charset="0"/>
                <a:cs typeface="Times New Roman" panose="02020603050405020304" pitchFamily="18" charset="0"/>
              </a:rPr>
              <a:t>sklearn.model_selection</a:t>
            </a:r>
            <a:r>
              <a:rPr lang="en-US" sz="2000" dirty="0">
                <a:latin typeface="Times New Roman" panose="02020603050405020304" pitchFamily="18" charset="0"/>
                <a:cs typeface="Times New Roman" panose="02020603050405020304" pitchFamily="18" charset="0"/>
              </a:rPr>
              <a:t> import </a:t>
            </a:r>
            <a:r>
              <a:rPr lang="en-US" sz="2000" dirty="0" err="1">
                <a:latin typeface="Times New Roman" panose="02020603050405020304" pitchFamily="18" charset="0"/>
                <a:cs typeface="Times New Roman" panose="02020603050405020304" pitchFamily="18" charset="0"/>
              </a:rPr>
              <a:t>train_test_split</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err="1">
                <a:latin typeface="Times New Roman" panose="02020603050405020304" pitchFamily="18" charset="0"/>
                <a:cs typeface="Times New Roman" panose="02020603050405020304" pitchFamily="18" charset="0"/>
              </a:rPr>
              <a:t>X_train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X_test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y_train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y_test</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train_test_split</a:t>
            </a:r>
            <a:r>
              <a:rPr lang="en-US" sz="2000" dirty="0">
                <a:latin typeface="Times New Roman" panose="02020603050405020304" pitchFamily="18" charset="0"/>
                <a:cs typeface="Times New Roman" panose="02020603050405020304" pitchFamily="18" charset="0"/>
              </a:rPr>
              <a:t>(X, y, </a:t>
            </a:r>
            <a:r>
              <a:rPr lang="en-US" sz="2000" dirty="0" err="1">
                <a:latin typeface="Times New Roman" panose="02020603050405020304" pitchFamily="18" charset="0"/>
                <a:cs typeface="Times New Roman" panose="02020603050405020304" pitchFamily="18" charset="0"/>
              </a:rPr>
              <a:t>test_size</a:t>
            </a:r>
            <a:r>
              <a:rPr lang="en-US" sz="2000" dirty="0">
                <a:latin typeface="Times New Roman" panose="02020603050405020304" pitchFamily="18" charset="0"/>
                <a:cs typeface="Times New Roman" panose="02020603050405020304" pitchFamily="18" charset="0"/>
              </a:rPr>
              <a:t>=0.20)</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err="1">
                <a:latin typeface="Times New Roman" panose="02020603050405020304" pitchFamily="18" charset="0"/>
                <a:cs typeface="Times New Roman" panose="02020603050405020304" pitchFamily="18" charset="0"/>
              </a:rPr>
              <a:t>X_train.shape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X_test.shape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y_train.shape</a:t>
            </a:r>
            <a:r>
              <a:rPr lang="en-US" sz="2000" dirty="0">
                <a:latin typeface="Times New Roman" panose="02020603050405020304" pitchFamily="18" charset="0"/>
                <a:cs typeface="Times New Roman" panose="02020603050405020304" pitchFamily="18" charset="0"/>
              </a:rPr>
              <a:t> print("Multi-modal neural networks (MMNN)")</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from </a:t>
            </a:r>
            <a:r>
              <a:rPr lang="en-US" sz="2000" dirty="0" err="1">
                <a:latin typeface="Times New Roman" panose="02020603050405020304" pitchFamily="18" charset="0"/>
                <a:cs typeface="Times New Roman" panose="02020603050405020304" pitchFamily="18" charset="0"/>
              </a:rPr>
              <a:t>sklearn.neural_network</a:t>
            </a:r>
            <a:r>
              <a:rPr lang="en-US" sz="2000" dirty="0">
                <a:latin typeface="Times New Roman" panose="02020603050405020304" pitchFamily="18" charset="0"/>
                <a:cs typeface="Times New Roman" panose="02020603050405020304" pitchFamily="18" charset="0"/>
              </a:rPr>
              <a:t> import </a:t>
            </a:r>
            <a:r>
              <a:rPr lang="en-US" sz="2000" dirty="0" err="1">
                <a:latin typeface="Times New Roman" panose="02020603050405020304" pitchFamily="18" charset="0"/>
                <a:cs typeface="Times New Roman" panose="02020603050405020304" pitchFamily="18" charset="0"/>
              </a:rPr>
              <a:t>MLPClassifier</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mlpc</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MLPClassifier</a:t>
            </a:r>
            <a:r>
              <a:rPr lang="en-US" sz="2000" dirty="0">
                <a:latin typeface="Times New Roman" panose="02020603050405020304" pitchFamily="18" charset="0"/>
                <a:cs typeface="Times New Roman" panose="02020603050405020304" pitchFamily="18" charset="0"/>
              </a:rPr>
              <a:t>().fit(</a:t>
            </a:r>
            <a:r>
              <a:rPr lang="en-US" sz="2000" dirty="0" err="1">
                <a:latin typeface="Times New Roman" panose="02020603050405020304" pitchFamily="18" charset="0"/>
                <a:cs typeface="Times New Roman" panose="02020603050405020304" pitchFamily="18" charset="0"/>
              </a:rPr>
              <a:t>X_train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y_train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y_pred</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mlpc.predict</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X_test</a:t>
            </a:r>
            <a:r>
              <a:rPr lang="en-US" sz="2000" dirty="0">
                <a:latin typeface="Times New Roman" panose="02020603050405020304" pitchFamily="18" charset="0"/>
                <a:cs typeface="Times New Roman" panose="02020603050405020304" pitchFamily="18" charset="0"/>
              </a:rPr>
              <a:t>) print("ACCURACY")</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print(</a:t>
            </a:r>
            <a:r>
              <a:rPr lang="en-US" sz="2000" dirty="0" err="1">
                <a:latin typeface="Times New Roman" panose="02020603050405020304" pitchFamily="18" charset="0"/>
                <a:cs typeface="Times New Roman" panose="02020603050405020304" pitchFamily="18" charset="0"/>
              </a:rPr>
              <a:t>accuracy_score</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y_test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y_pred</a:t>
            </a:r>
            <a:r>
              <a:rPr lang="en-US" sz="2000" dirty="0">
                <a:latin typeface="Times New Roman" panose="02020603050405020304" pitchFamily="18" charset="0"/>
                <a:cs typeface="Times New Roman" panose="02020603050405020304" pitchFamily="18" charset="0"/>
              </a:rPr>
              <a:t>) * 100) print("CLASSIFICATION REPORT")</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print(</a:t>
            </a:r>
            <a:r>
              <a:rPr lang="en-US" sz="2000" dirty="0" err="1">
                <a:latin typeface="Times New Roman" panose="02020603050405020304" pitchFamily="18" charset="0"/>
                <a:cs typeface="Times New Roman" panose="02020603050405020304" pitchFamily="18" charset="0"/>
              </a:rPr>
              <a:t>classification_report</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y_test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y_pred</a:t>
            </a:r>
            <a:r>
              <a:rPr lang="en-US" sz="2000" dirty="0">
                <a:latin typeface="Times New Roman" panose="02020603050405020304" pitchFamily="18" charset="0"/>
                <a:cs typeface="Times New Roman" panose="02020603050405020304" pitchFamily="18" charset="0"/>
              </a:rPr>
              <a:t>)) print("CONFUSION MATRIX")</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print(</a:t>
            </a:r>
            <a:r>
              <a:rPr lang="en-US" sz="2000" dirty="0" err="1">
                <a:latin typeface="Times New Roman" panose="02020603050405020304" pitchFamily="18" charset="0"/>
                <a:cs typeface="Times New Roman" panose="02020603050405020304" pitchFamily="18" charset="0"/>
              </a:rPr>
              <a:t>confusion_matrix</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y_test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y_pred</a:t>
            </a:r>
            <a:r>
              <a:rPr lang="en-US" sz="2000" dirty="0">
                <a:latin typeface="Times New Roman" panose="02020603050405020304" pitchFamily="18" charset="0"/>
                <a:cs typeface="Times New Roman" panose="02020603050405020304" pitchFamily="18" charset="0"/>
              </a:rPr>
              <a:t>))</a:t>
            </a:r>
          </a:p>
          <a:p>
            <a:pPr marL="0" indent="0">
              <a:buNone/>
            </a:pPr>
            <a:r>
              <a:rPr lang="en-US" sz="2000" dirty="0" err="1">
                <a:latin typeface="Times New Roman" panose="02020603050405020304" pitchFamily="18" charset="0"/>
                <a:cs typeface="Times New Roman" panose="02020603050405020304" pitchFamily="18" charset="0"/>
              </a:rPr>
              <a:t>models.append</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MLPClassifier</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mlpc</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0489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301010-79A9-039A-83EA-2C441554495C}"/>
              </a:ext>
            </a:extLst>
          </p:cNvPr>
          <p:cNvSpPr>
            <a:spLocks noGrp="1"/>
          </p:cNvSpPr>
          <p:nvPr>
            <p:ph idx="1"/>
          </p:nvPr>
        </p:nvSpPr>
        <p:spPr>
          <a:xfrm>
            <a:off x="838200" y="419878"/>
            <a:ext cx="10515600" cy="5887616"/>
          </a:xfrm>
        </p:spPr>
        <p:txBody>
          <a:bodyPr>
            <a:normAutofit fontScale="85000" lnSpcReduction="20000"/>
          </a:bodyPr>
          <a:lstStyle/>
          <a:p>
            <a:pPr marL="0" indent="0">
              <a:buNone/>
            </a:pPr>
            <a:r>
              <a:rPr lang="en-US" sz="2000" dirty="0">
                <a:latin typeface="Times New Roman" panose="02020603050405020304" pitchFamily="18" charset="0"/>
                <a:cs typeface="Times New Roman" panose="02020603050405020304" pitchFamily="18" charset="0"/>
              </a:rPr>
              <a:t>print("SVM")</a:t>
            </a:r>
            <a:endParaRPr lang="en-IN" sz="20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from </a:t>
            </a:r>
            <a:r>
              <a:rPr lang="en-US" sz="2400" dirty="0" err="1">
                <a:latin typeface="Times New Roman" panose="02020603050405020304" pitchFamily="18" charset="0"/>
                <a:cs typeface="Times New Roman" panose="02020603050405020304" pitchFamily="18" charset="0"/>
              </a:rPr>
              <a:t>sklearn</a:t>
            </a:r>
            <a:r>
              <a:rPr lang="en-US" sz="2400" dirty="0">
                <a:latin typeface="Times New Roman" panose="02020603050405020304" pitchFamily="18" charset="0"/>
                <a:cs typeface="Times New Roman" panose="02020603050405020304" pitchFamily="18" charset="0"/>
              </a:rPr>
              <a:t> import </a:t>
            </a:r>
            <a:r>
              <a:rPr lang="en-US" sz="2400" dirty="0" err="1">
                <a:latin typeface="Times New Roman" panose="02020603050405020304" pitchFamily="18" charset="0"/>
                <a:cs typeface="Times New Roman" panose="02020603050405020304" pitchFamily="18" charset="0"/>
              </a:rPr>
              <a:t>svm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lin_clf</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svm.LinearSVC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lin_clf.fit</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X_train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y_train</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predict_svm</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lin_clf.predict</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X_test</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svm_acc</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accuracy_score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y_test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predict_svm</a:t>
            </a:r>
            <a:r>
              <a:rPr lang="en-US" sz="2400" dirty="0">
                <a:latin typeface="Times New Roman" panose="02020603050405020304" pitchFamily="18" charset="0"/>
                <a:cs typeface="Times New Roman" panose="02020603050405020304" pitchFamily="18" charset="0"/>
              </a:rPr>
              <a:t>) * 100 print(</a:t>
            </a:r>
            <a:r>
              <a:rPr lang="en-US" sz="2400" dirty="0" err="1">
                <a:latin typeface="Times New Roman" panose="02020603050405020304" pitchFamily="18" charset="0"/>
                <a:cs typeface="Times New Roman" panose="02020603050405020304" pitchFamily="18" charset="0"/>
              </a:rPr>
              <a:t>svm_acc</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print("CLASSIFICATION REPORT")</a:t>
            </a:r>
            <a:endParaRPr lang="en-IN"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print(</a:t>
            </a:r>
            <a:r>
              <a:rPr lang="en-US" sz="2400" dirty="0" err="1">
                <a:latin typeface="Times New Roman" panose="02020603050405020304" pitchFamily="18" charset="0"/>
                <a:cs typeface="Times New Roman" panose="02020603050405020304" pitchFamily="18" charset="0"/>
              </a:rPr>
              <a:t>classification_report</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y_test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predict_svm</a:t>
            </a:r>
            <a:r>
              <a:rPr lang="en-US" sz="2400" dirty="0">
                <a:latin typeface="Times New Roman" panose="02020603050405020304" pitchFamily="18" charset="0"/>
                <a:cs typeface="Times New Roman" panose="02020603050405020304" pitchFamily="18" charset="0"/>
              </a:rPr>
              <a:t>)) print("CONFUSION MATRIX")</a:t>
            </a:r>
            <a:endParaRPr lang="en-IN"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print(</a:t>
            </a:r>
            <a:r>
              <a:rPr lang="en-US" sz="2400" dirty="0" err="1">
                <a:latin typeface="Times New Roman" panose="02020603050405020304" pitchFamily="18" charset="0"/>
                <a:cs typeface="Times New Roman" panose="02020603050405020304" pitchFamily="18" charset="0"/>
              </a:rPr>
              <a:t>confusion_matrix</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y_test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predict_svm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models.append</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svm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lin_clf</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print("Logistic Regression")</a:t>
            </a:r>
            <a:endParaRPr lang="en-IN"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from </a:t>
            </a:r>
            <a:r>
              <a:rPr lang="en-US" sz="2400" dirty="0" err="1">
                <a:latin typeface="Times New Roman" panose="02020603050405020304" pitchFamily="18" charset="0"/>
                <a:cs typeface="Times New Roman" panose="02020603050405020304" pitchFamily="18" charset="0"/>
              </a:rPr>
              <a:t>sklearn.linear_model</a:t>
            </a:r>
            <a:r>
              <a:rPr lang="en-US" sz="2400" dirty="0">
                <a:latin typeface="Times New Roman" panose="02020603050405020304" pitchFamily="18" charset="0"/>
                <a:cs typeface="Times New Roman" panose="02020603050405020304" pitchFamily="18" charset="0"/>
              </a:rPr>
              <a:t> import LogisticRegression</a:t>
            </a:r>
            <a:endParaRPr lang="en-IN"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reg = LogisticRegression(</a:t>
            </a:r>
            <a:r>
              <a:rPr lang="en-US" sz="2400" dirty="0" err="1">
                <a:latin typeface="Times New Roman" panose="02020603050405020304" pitchFamily="18" charset="0"/>
                <a:cs typeface="Times New Roman" panose="02020603050405020304" pitchFamily="18" charset="0"/>
              </a:rPr>
              <a:t>random_state</a:t>
            </a:r>
            <a:r>
              <a:rPr lang="en-US" sz="2400" dirty="0">
                <a:latin typeface="Times New Roman" panose="02020603050405020304" pitchFamily="18" charset="0"/>
                <a:cs typeface="Times New Roman" panose="02020603050405020304" pitchFamily="18" charset="0"/>
              </a:rPr>
              <a:t>=0, solver='</a:t>
            </a:r>
            <a:r>
              <a:rPr lang="en-US" sz="2400" dirty="0" err="1">
                <a:latin typeface="Times New Roman" panose="02020603050405020304" pitchFamily="18" charset="0"/>
                <a:cs typeface="Times New Roman" panose="02020603050405020304" pitchFamily="18" charset="0"/>
              </a:rPr>
              <a:t>lbfgs</a:t>
            </a:r>
            <a:r>
              <a:rPr lang="en-US" sz="2400" dirty="0">
                <a:latin typeface="Times New Roman" panose="02020603050405020304" pitchFamily="18" charset="0"/>
                <a:cs typeface="Times New Roman" panose="02020603050405020304" pitchFamily="18" charset="0"/>
              </a:rPr>
              <a:t>').fit(</a:t>
            </a:r>
            <a:r>
              <a:rPr lang="en-US" sz="2400" dirty="0" err="1">
                <a:latin typeface="Times New Roman" panose="02020603050405020304" pitchFamily="18" charset="0"/>
                <a:cs typeface="Times New Roman" panose="02020603050405020304" pitchFamily="18" charset="0"/>
              </a:rPr>
              <a:t>X_train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y_train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y_pred</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reg.predict</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X_test</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print("ACCURACY")</a:t>
            </a:r>
            <a:endParaRPr lang="en-IN"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print(</a:t>
            </a:r>
            <a:r>
              <a:rPr lang="en-US" sz="2400" dirty="0" err="1">
                <a:latin typeface="Times New Roman" panose="02020603050405020304" pitchFamily="18" charset="0"/>
                <a:cs typeface="Times New Roman" panose="02020603050405020304" pitchFamily="18" charset="0"/>
              </a:rPr>
              <a:t>accuracy_score</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y_test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y_pred</a:t>
            </a:r>
            <a:r>
              <a:rPr lang="en-US" sz="2400" dirty="0">
                <a:latin typeface="Times New Roman" panose="02020603050405020304" pitchFamily="18" charset="0"/>
                <a:cs typeface="Times New Roman" panose="02020603050405020304" pitchFamily="18" charset="0"/>
              </a:rPr>
              <a:t>) * 100) print("CLASSIFICATION REPORT")</a:t>
            </a:r>
            <a:endParaRPr lang="en-IN"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print(</a:t>
            </a:r>
            <a:r>
              <a:rPr lang="en-US" sz="2400" dirty="0" err="1">
                <a:latin typeface="Times New Roman" panose="02020603050405020304" pitchFamily="18" charset="0"/>
                <a:cs typeface="Times New Roman" panose="02020603050405020304" pitchFamily="18" charset="0"/>
              </a:rPr>
              <a:t>classification_report</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y_test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y_pred</a:t>
            </a:r>
            <a:r>
              <a:rPr lang="en-US" sz="2400" dirty="0">
                <a:latin typeface="Times New Roman" panose="02020603050405020304" pitchFamily="18" charset="0"/>
                <a:cs typeface="Times New Roman" panose="02020603050405020304" pitchFamily="18" charset="0"/>
              </a:rPr>
              <a:t>)) print("CONFUSION MATRIX")</a:t>
            </a:r>
            <a:endParaRPr lang="en-IN"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print(</a:t>
            </a:r>
            <a:r>
              <a:rPr lang="en-US" sz="2400" dirty="0" err="1">
                <a:latin typeface="Times New Roman" panose="02020603050405020304" pitchFamily="18" charset="0"/>
                <a:cs typeface="Times New Roman" panose="02020603050405020304" pitchFamily="18" charset="0"/>
              </a:rPr>
              <a:t>confusion_matrix</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y_test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y_pred</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models.append</a:t>
            </a:r>
            <a:r>
              <a:rPr lang="en-US" sz="2400" dirty="0">
                <a:latin typeface="Times New Roman" panose="02020603050405020304" pitchFamily="18" charset="0"/>
                <a:cs typeface="Times New Roman" panose="02020603050405020304" pitchFamily="18" charset="0"/>
              </a:rPr>
              <a:t>(('logistic', reg))</a:t>
            </a:r>
            <a:endParaRPr lang="en-IN"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classifier = </a:t>
            </a:r>
            <a:r>
              <a:rPr lang="en-US" sz="2400" dirty="0" err="1">
                <a:latin typeface="Times New Roman" panose="02020603050405020304" pitchFamily="18" charset="0"/>
                <a:cs typeface="Times New Roman" panose="02020603050405020304" pitchFamily="18" charset="0"/>
              </a:rPr>
              <a:t>VotingClassifier</a:t>
            </a:r>
            <a:r>
              <a:rPr lang="en-US" sz="2400" dirty="0">
                <a:latin typeface="Times New Roman" panose="02020603050405020304" pitchFamily="18" charset="0"/>
                <a:cs typeface="Times New Roman" panose="02020603050405020304" pitchFamily="18" charset="0"/>
              </a:rPr>
              <a:t>(models) </a:t>
            </a:r>
            <a:r>
              <a:rPr lang="en-US" sz="2400" dirty="0" err="1">
                <a:latin typeface="Times New Roman" panose="02020603050405020304" pitchFamily="18" charset="0"/>
                <a:cs typeface="Times New Roman" panose="02020603050405020304" pitchFamily="18" charset="0"/>
              </a:rPr>
              <a:t>classifier.fit</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X_train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y_train</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y_pred</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classifier.predict</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X_test</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66596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4E6951-869F-BF41-31F5-3018EA1783F4}"/>
              </a:ext>
            </a:extLst>
          </p:cNvPr>
          <p:cNvSpPr>
            <a:spLocks noGrp="1"/>
          </p:cNvSpPr>
          <p:nvPr>
            <p:ph idx="1"/>
          </p:nvPr>
        </p:nvSpPr>
        <p:spPr>
          <a:xfrm>
            <a:off x="838200" y="475861"/>
            <a:ext cx="10515600" cy="5701102"/>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pred = str(</a:t>
            </a:r>
            <a:r>
              <a:rPr lang="en-US" sz="2000" dirty="0" err="1">
                <a:latin typeface="Times New Roman" panose="02020603050405020304" pitchFamily="18" charset="0"/>
                <a:cs typeface="Times New Roman" panose="02020603050405020304" pitchFamily="18" charset="0"/>
              </a:rPr>
              <a:t>predict_text</a:t>
            </a:r>
            <a:r>
              <a:rPr lang="en-US" sz="2000" dirty="0">
                <a:latin typeface="Times New Roman" panose="02020603050405020304" pitchFamily="18" charset="0"/>
                <a:cs typeface="Times New Roman" panose="02020603050405020304" pitchFamily="18" charset="0"/>
              </a:rPr>
              <a:t>).replace("[", "") pred1 = </a:t>
            </a:r>
            <a:r>
              <a:rPr lang="en-US" sz="2000" dirty="0" err="1">
                <a:latin typeface="Times New Roman" panose="02020603050405020304" pitchFamily="18" charset="0"/>
                <a:cs typeface="Times New Roman" panose="02020603050405020304" pitchFamily="18" charset="0"/>
              </a:rPr>
              <a:t>pred.replace</a:t>
            </a:r>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prediction = int(pred1) if prediction == 0:</a:t>
            </a:r>
          </a:p>
          <a:p>
            <a:pPr marL="0" indent="0">
              <a:buNone/>
            </a:pPr>
            <a:r>
              <a:rPr lang="en-US" sz="2000" dirty="0" err="1">
                <a:latin typeface="Times New Roman" panose="02020603050405020304" pitchFamily="18" charset="0"/>
                <a:cs typeface="Times New Roman" panose="02020603050405020304" pitchFamily="18" charset="0"/>
              </a:rPr>
              <a:t>val</a:t>
            </a:r>
            <a:r>
              <a:rPr lang="en-US" sz="2000" dirty="0">
                <a:latin typeface="Times New Roman" panose="02020603050405020304" pitchFamily="18" charset="0"/>
                <a:cs typeface="Times New Roman" panose="02020603050405020304" pitchFamily="18" charset="0"/>
              </a:rPr>
              <a:t> = 'Low Side Effect Found' </a:t>
            </a:r>
            <a:r>
              <a:rPr lang="en-US" sz="2000" dirty="0" err="1">
                <a:latin typeface="Times New Roman" panose="02020603050405020304" pitchFamily="18" charset="0"/>
                <a:cs typeface="Times New Roman" panose="02020603050405020304" pitchFamily="18" charset="0"/>
              </a:rPr>
              <a:t>elif</a:t>
            </a:r>
            <a:r>
              <a:rPr lang="en-US" sz="2000" dirty="0">
                <a:latin typeface="Times New Roman" panose="02020603050405020304" pitchFamily="18" charset="0"/>
                <a:cs typeface="Times New Roman" panose="02020603050405020304" pitchFamily="18" charset="0"/>
              </a:rPr>
              <a:t> prediction == 1:</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err="1">
                <a:latin typeface="Times New Roman" panose="02020603050405020304" pitchFamily="18" charset="0"/>
                <a:cs typeface="Times New Roman" panose="02020603050405020304" pitchFamily="18" charset="0"/>
              </a:rPr>
              <a:t>val</a:t>
            </a:r>
            <a:r>
              <a:rPr lang="en-US" sz="2000" dirty="0">
                <a:latin typeface="Times New Roman" panose="02020603050405020304" pitchFamily="18" charset="0"/>
                <a:cs typeface="Times New Roman" panose="02020603050405020304" pitchFamily="18" charset="0"/>
              </a:rPr>
              <a:t> = 'High Side Effect Found'</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print(</a:t>
            </a:r>
            <a:r>
              <a:rPr lang="en-US" sz="2000" dirty="0" err="1">
                <a:latin typeface="Times New Roman" panose="02020603050405020304" pitchFamily="18" charset="0"/>
                <a:cs typeface="Times New Roman" panose="02020603050405020304" pitchFamily="18" charset="0"/>
              </a:rPr>
              <a:t>val</a:t>
            </a:r>
            <a:r>
              <a:rPr lang="en-US" sz="2000" dirty="0">
                <a:latin typeface="Times New Roman" panose="02020603050405020304" pitchFamily="18" charset="0"/>
                <a:cs typeface="Times New Roman" panose="02020603050405020304" pitchFamily="18" charset="0"/>
              </a:rPr>
              <a:t>) print(pred1)</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err="1">
                <a:latin typeface="Times New Roman" panose="02020603050405020304" pitchFamily="18" charset="0"/>
                <a:cs typeface="Times New Roman" panose="02020603050405020304" pitchFamily="18" charset="0"/>
              </a:rPr>
              <a:t>drug_side_effect_prediction.objects.create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uid</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uid</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err="1">
                <a:latin typeface="Times New Roman" panose="02020603050405020304" pitchFamily="18" charset="0"/>
                <a:cs typeface="Times New Roman" panose="02020603050405020304" pitchFamily="18" charset="0"/>
              </a:rPr>
              <a:t>Drug_Name</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Drug_Name</a:t>
            </a:r>
            <a:r>
              <a:rPr lang="en-US" sz="2000" dirty="0">
                <a:latin typeface="Times New Roman" panose="02020603050405020304" pitchFamily="18" charset="0"/>
                <a:cs typeface="Times New Roman" panose="02020603050405020304" pitchFamily="18" charset="0"/>
              </a:rPr>
              <a:t>, Condition1=Condition1,</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Prediction=</a:t>
            </a:r>
            <a:r>
              <a:rPr lang="en-US" sz="2000" dirty="0" err="1">
                <a:latin typeface="Times New Roman" panose="02020603050405020304" pitchFamily="18" charset="0"/>
                <a:cs typeface="Times New Roman" panose="02020603050405020304" pitchFamily="18" charset="0"/>
              </a:rPr>
              <a:t>val</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return render(request, 'RUser/Predict_Drug_Side_Effect_Type.html',{'</a:t>
            </a:r>
            <a:r>
              <a:rPr lang="en-US" sz="2000" dirty="0" err="1">
                <a:latin typeface="Times New Roman" panose="02020603050405020304" pitchFamily="18" charset="0"/>
                <a:cs typeface="Times New Roman" panose="02020603050405020304" pitchFamily="18" charset="0"/>
              </a:rPr>
              <a:t>objs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val</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return render(request, 'RUser/Predict_Drug_Side_Effect_Type.html')</a:t>
            </a:r>
            <a:endParaRPr lang="en-IN" sz="2000" dirty="0">
              <a:latin typeface="Times New Roman" panose="02020603050405020304" pitchFamily="18" charset="0"/>
              <a:cs typeface="Times New Roman" panose="02020603050405020304" pitchFamily="18" charset="0"/>
            </a:endParaRPr>
          </a:p>
          <a:p>
            <a:pPr marL="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005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F09F0-07A9-00C4-A15E-EF0887E2BEED}"/>
              </a:ext>
            </a:extLst>
          </p:cNvPr>
          <p:cNvSpPr>
            <a:spLocks noGrp="1"/>
          </p:cNvSpPr>
          <p:nvPr>
            <p:ph type="title"/>
          </p:nvPr>
        </p:nvSpPr>
        <p:spPr>
          <a:xfrm>
            <a:off x="838200" y="365125"/>
            <a:ext cx="10515600" cy="493291"/>
          </a:xfrm>
        </p:spPr>
        <p:txBody>
          <a:bodyPr>
            <a:noAutofit/>
          </a:bodyPr>
          <a:lstStyle/>
          <a:p>
            <a:r>
              <a:rPr lang="en-US" sz="3600" b="1" dirty="0">
                <a:latin typeface="Times New Roman" panose="02020603050405020304" pitchFamily="18" charset="0"/>
                <a:cs typeface="Times New Roman" panose="02020603050405020304" pitchFamily="18" charset="0"/>
              </a:rPr>
              <a:t>Output Screens :</a:t>
            </a:r>
            <a:endParaRPr lang="en-IN" sz="3600" b="1" dirty="0">
              <a:latin typeface="Times New Roman" panose="02020603050405020304" pitchFamily="18" charset="0"/>
              <a:cs typeface="Times New Roman" panose="02020603050405020304" pitchFamily="18" charset="0"/>
            </a:endParaRPr>
          </a:p>
        </p:txBody>
      </p:sp>
      <p:pic>
        <p:nvPicPr>
          <p:cNvPr id="4" name="Image 17">
            <a:extLst>
              <a:ext uri="{FF2B5EF4-FFF2-40B4-BE49-F238E27FC236}">
                <a16:creationId xmlns:a16="http://schemas.microsoft.com/office/drawing/2014/main" id="{784010D2-6C11-78CD-93C9-7FFFC083D70B}"/>
              </a:ext>
            </a:extLst>
          </p:cNvPr>
          <p:cNvPicPr>
            <a:picLocks noGrp="1"/>
          </p:cNvPicPr>
          <p:nvPr>
            <p:ph idx="1"/>
          </p:nvPr>
        </p:nvPicPr>
        <p:blipFill>
          <a:blip r:embed="rId2" cstate="print"/>
          <a:stretch>
            <a:fillRect/>
          </a:stretch>
        </p:blipFill>
        <p:spPr>
          <a:xfrm>
            <a:off x="543968" y="2164702"/>
            <a:ext cx="5390301" cy="3722914"/>
          </a:xfrm>
          <a:prstGeom prst="rect">
            <a:avLst/>
          </a:prstGeom>
        </p:spPr>
      </p:pic>
      <p:pic>
        <p:nvPicPr>
          <p:cNvPr id="5" name="Image 18">
            <a:extLst>
              <a:ext uri="{FF2B5EF4-FFF2-40B4-BE49-F238E27FC236}">
                <a16:creationId xmlns:a16="http://schemas.microsoft.com/office/drawing/2014/main" id="{09D276F0-D8A7-8511-6238-24BC79C43BB7}"/>
              </a:ext>
            </a:extLst>
          </p:cNvPr>
          <p:cNvPicPr>
            <a:picLocks/>
          </p:cNvPicPr>
          <p:nvPr/>
        </p:nvPicPr>
        <p:blipFill>
          <a:blip r:embed="rId3" cstate="print"/>
          <a:stretch>
            <a:fillRect/>
          </a:stretch>
        </p:blipFill>
        <p:spPr>
          <a:xfrm>
            <a:off x="6257731" y="2164702"/>
            <a:ext cx="5390301" cy="3722914"/>
          </a:xfrm>
          <a:prstGeom prst="rect">
            <a:avLst/>
          </a:prstGeom>
        </p:spPr>
      </p:pic>
      <p:sp>
        <p:nvSpPr>
          <p:cNvPr id="7" name="TextBox 6">
            <a:extLst>
              <a:ext uri="{FF2B5EF4-FFF2-40B4-BE49-F238E27FC236}">
                <a16:creationId xmlns:a16="http://schemas.microsoft.com/office/drawing/2014/main" id="{222E3BB4-F303-E963-4496-6A70AB983F65}"/>
              </a:ext>
            </a:extLst>
          </p:cNvPr>
          <p:cNvSpPr txBox="1"/>
          <p:nvPr/>
        </p:nvSpPr>
        <p:spPr>
          <a:xfrm>
            <a:off x="838200" y="1249949"/>
            <a:ext cx="3893198"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Registration page: </a:t>
            </a:r>
          </a:p>
        </p:txBody>
      </p:sp>
      <p:sp>
        <p:nvSpPr>
          <p:cNvPr id="9" name="TextBox 8">
            <a:extLst>
              <a:ext uri="{FF2B5EF4-FFF2-40B4-BE49-F238E27FC236}">
                <a16:creationId xmlns:a16="http://schemas.microsoft.com/office/drawing/2014/main" id="{E4CD941C-F46F-733B-082F-1930EA861568}"/>
              </a:ext>
            </a:extLst>
          </p:cNvPr>
          <p:cNvSpPr txBox="1"/>
          <p:nvPr/>
        </p:nvSpPr>
        <p:spPr>
          <a:xfrm>
            <a:off x="6355862" y="1249949"/>
            <a:ext cx="3562579"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Login page:</a:t>
            </a:r>
          </a:p>
        </p:txBody>
      </p:sp>
    </p:spTree>
    <p:extLst>
      <p:ext uri="{BB962C8B-B14F-4D97-AF65-F5344CB8AC3E}">
        <p14:creationId xmlns:p14="http://schemas.microsoft.com/office/powerpoint/2010/main" val="3548514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19">
            <a:extLst>
              <a:ext uri="{FF2B5EF4-FFF2-40B4-BE49-F238E27FC236}">
                <a16:creationId xmlns:a16="http://schemas.microsoft.com/office/drawing/2014/main" id="{716CFD55-5FC5-A716-5405-89BAC822F5E4}"/>
              </a:ext>
            </a:extLst>
          </p:cNvPr>
          <p:cNvPicPr>
            <a:picLocks noGrp="1"/>
          </p:cNvPicPr>
          <p:nvPr>
            <p:ph idx="1"/>
          </p:nvPr>
        </p:nvPicPr>
        <p:blipFill>
          <a:blip r:embed="rId2" cstate="print"/>
          <a:stretch>
            <a:fillRect/>
          </a:stretch>
        </p:blipFill>
        <p:spPr>
          <a:xfrm>
            <a:off x="759617" y="1912776"/>
            <a:ext cx="5072015" cy="4030824"/>
          </a:xfrm>
          <a:prstGeom prst="rect">
            <a:avLst/>
          </a:prstGeom>
        </p:spPr>
      </p:pic>
      <p:pic>
        <p:nvPicPr>
          <p:cNvPr id="5" name="Image 20">
            <a:extLst>
              <a:ext uri="{FF2B5EF4-FFF2-40B4-BE49-F238E27FC236}">
                <a16:creationId xmlns:a16="http://schemas.microsoft.com/office/drawing/2014/main" id="{1784585D-378A-983C-64F4-A9E4B197F7B5}"/>
              </a:ext>
            </a:extLst>
          </p:cNvPr>
          <p:cNvPicPr>
            <a:picLocks/>
          </p:cNvPicPr>
          <p:nvPr/>
        </p:nvPicPr>
        <p:blipFill>
          <a:blip r:embed="rId3" cstate="print"/>
          <a:stretch>
            <a:fillRect/>
          </a:stretch>
        </p:blipFill>
        <p:spPr>
          <a:xfrm>
            <a:off x="6360370" y="1912776"/>
            <a:ext cx="5072013" cy="4030824"/>
          </a:xfrm>
          <a:prstGeom prst="rect">
            <a:avLst/>
          </a:prstGeom>
        </p:spPr>
      </p:pic>
      <p:sp>
        <p:nvSpPr>
          <p:cNvPr id="7" name="TextBox 6">
            <a:extLst>
              <a:ext uri="{FF2B5EF4-FFF2-40B4-BE49-F238E27FC236}">
                <a16:creationId xmlns:a16="http://schemas.microsoft.com/office/drawing/2014/main" id="{69215C4D-6B12-4E52-BB39-2C2FF4D64096}"/>
              </a:ext>
            </a:extLst>
          </p:cNvPr>
          <p:cNvSpPr txBox="1"/>
          <p:nvPr/>
        </p:nvSpPr>
        <p:spPr>
          <a:xfrm>
            <a:off x="759617" y="1077686"/>
            <a:ext cx="5006701"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User Information:</a:t>
            </a:r>
          </a:p>
        </p:txBody>
      </p:sp>
      <p:sp>
        <p:nvSpPr>
          <p:cNvPr id="9" name="TextBox 8">
            <a:extLst>
              <a:ext uri="{FF2B5EF4-FFF2-40B4-BE49-F238E27FC236}">
                <a16:creationId xmlns:a16="http://schemas.microsoft.com/office/drawing/2014/main" id="{D70F1389-D971-1A03-C9A2-85AC26ED3B74}"/>
              </a:ext>
            </a:extLst>
          </p:cNvPr>
          <p:cNvSpPr txBox="1"/>
          <p:nvPr/>
        </p:nvSpPr>
        <p:spPr>
          <a:xfrm>
            <a:off x="6360370" y="1077686"/>
            <a:ext cx="5072013"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Predict Drug Side Effect Type:</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32701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755BE-449D-8952-0840-BA86717E2F9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13A77F4-4AC6-7336-6200-DE40268D0772}"/>
              </a:ext>
            </a:extLst>
          </p:cNvPr>
          <p:cNvSpPr txBox="1"/>
          <p:nvPr/>
        </p:nvSpPr>
        <p:spPr>
          <a:xfrm>
            <a:off x="759617" y="1077686"/>
            <a:ext cx="5006701"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Pie Chart</a:t>
            </a:r>
            <a:r>
              <a:rPr lang="en-IN" sz="2800" b="1" dirty="0">
                <a:latin typeface="Times New Roman" panose="02020603050405020304" pitchFamily="18" charset="0"/>
                <a:cs typeface="Times New Roman" panose="02020603050405020304" pitchFamily="18" charset="0"/>
              </a:rPr>
              <a:t>:</a:t>
            </a:r>
          </a:p>
        </p:txBody>
      </p:sp>
      <p:sp>
        <p:nvSpPr>
          <p:cNvPr id="9" name="TextBox 8">
            <a:extLst>
              <a:ext uri="{FF2B5EF4-FFF2-40B4-BE49-F238E27FC236}">
                <a16:creationId xmlns:a16="http://schemas.microsoft.com/office/drawing/2014/main" id="{7CF1B9DD-9AC0-EF53-1008-8D7B710D4184}"/>
              </a:ext>
            </a:extLst>
          </p:cNvPr>
          <p:cNvSpPr txBox="1"/>
          <p:nvPr/>
        </p:nvSpPr>
        <p:spPr>
          <a:xfrm>
            <a:off x="6360370" y="1077686"/>
            <a:ext cx="5072013"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Line Chart:</a:t>
            </a:r>
            <a:endParaRPr lang="en-IN" sz="2800" dirty="0">
              <a:latin typeface="Times New Roman" panose="02020603050405020304" pitchFamily="18" charset="0"/>
              <a:cs typeface="Times New Roman" panose="02020603050405020304" pitchFamily="18" charset="0"/>
            </a:endParaRPr>
          </a:p>
        </p:txBody>
      </p:sp>
      <p:pic>
        <p:nvPicPr>
          <p:cNvPr id="11" name="Image 21">
            <a:extLst>
              <a:ext uri="{FF2B5EF4-FFF2-40B4-BE49-F238E27FC236}">
                <a16:creationId xmlns:a16="http://schemas.microsoft.com/office/drawing/2014/main" id="{E1618042-CC82-03FD-31CD-1939024B60B9}"/>
              </a:ext>
            </a:extLst>
          </p:cNvPr>
          <p:cNvPicPr>
            <a:picLocks noGrp="1"/>
          </p:cNvPicPr>
          <p:nvPr>
            <p:ph idx="1"/>
          </p:nvPr>
        </p:nvPicPr>
        <p:blipFill>
          <a:blip r:embed="rId2" cstate="print"/>
          <a:stretch>
            <a:fillRect/>
          </a:stretch>
        </p:blipFill>
        <p:spPr>
          <a:xfrm>
            <a:off x="759617" y="1912774"/>
            <a:ext cx="5072013" cy="4030825"/>
          </a:xfrm>
          <a:prstGeom prst="rect">
            <a:avLst/>
          </a:prstGeom>
        </p:spPr>
      </p:pic>
      <p:pic>
        <p:nvPicPr>
          <p:cNvPr id="12" name="Image 22">
            <a:extLst>
              <a:ext uri="{FF2B5EF4-FFF2-40B4-BE49-F238E27FC236}">
                <a16:creationId xmlns:a16="http://schemas.microsoft.com/office/drawing/2014/main" id="{C0F4C583-1647-9A21-642C-B9E8F2F05FFD}"/>
              </a:ext>
            </a:extLst>
          </p:cNvPr>
          <p:cNvPicPr>
            <a:picLocks/>
          </p:cNvPicPr>
          <p:nvPr/>
        </p:nvPicPr>
        <p:blipFill>
          <a:blip r:embed="rId3" cstate="print"/>
          <a:stretch>
            <a:fillRect/>
          </a:stretch>
        </p:blipFill>
        <p:spPr>
          <a:xfrm>
            <a:off x="6360370" y="1912775"/>
            <a:ext cx="5072013" cy="4030824"/>
          </a:xfrm>
          <a:prstGeom prst="rect">
            <a:avLst/>
          </a:prstGeom>
        </p:spPr>
      </p:pic>
    </p:spTree>
    <p:extLst>
      <p:ext uri="{BB962C8B-B14F-4D97-AF65-F5344CB8AC3E}">
        <p14:creationId xmlns:p14="http://schemas.microsoft.com/office/powerpoint/2010/main" val="40650163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6CA57-40CC-3223-ACEE-970E828EB361}"/>
              </a:ext>
            </a:extLst>
          </p:cNvPr>
          <p:cNvSpPr>
            <a:spLocks noGrp="1"/>
          </p:cNvSpPr>
          <p:nvPr>
            <p:ph type="title"/>
          </p:nvPr>
        </p:nvSpPr>
        <p:spPr>
          <a:xfrm>
            <a:off x="838200" y="365125"/>
            <a:ext cx="10515600" cy="857185"/>
          </a:xfrm>
        </p:spPr>
        <p:txBody>
          <a:bodyPr>
            <a:normAutofit/>
          </a:bodyPr>
          <a:lstStyle/>
          <a:p>
            <a:r>
              <a:rPr lang="en-US" sz="3200" b="1" dirty="0">
                <a:latin typeface="Times New Roman" panose="02020603050405020304" pitchFamily="18" charset="0"/>
                <a:cs typeface="Times New Roman" panose="02020603050405020304" pitchFamily="18" charset="0"/>
              </a:rPr>
              <a:t>CONCLUSION</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1EA1B0-B44C-9A2A-7CBC-6B408029289C}"/>
              </a:ext>
            </a:extLst>
          </p:cNvPr>
          <p:cNvSpPr>
            <a:spLocks noGrp="1"/>
          </p:cNvSpPr>
          <p:nvPr>
            <p:ph idx="1"/>
          </p:nvPr>
        </p:nvSpPr>
        <p:spPr>
          <a:xfrm>
            <a:off x="838200" y="1399592"/>
            <a:ext cx="10515600" cy="4777371"/>
          </a:xfrm>
        </p:spPr>
        <p:txBody>
          <a:bodyPr>
            <a:normAutofit/>
          </a:bodyPr>
          <a:lstStyle/>
          <a:p>
            <a:pPr marL="0" lvl="0" indent="0" algn="just">
              <a:lnSpc>
                <a:spcPct val="150000"/>
              </a:lnSpc>
              <a:buNone/>
            </a:pPr>
            <a:r>
              <a:rPr lang="en-US" sz="2000" dirty="0">
                <a:latin typeface="Times New Roman" panose="02020603050405020304" pitchFamily="18" charset="0"/>
                <a:cs typeface="Times New Roman" panose="02020603050405020304" pitchFamily="18" charset="0"/>
              </a:rPr>
              <a:t>The pharmaceutical drug development process is a long and demanding process. Unforeseen ADRs that arise at the drug development process can suspend or restart the whole development pipeline. Therefore, the a priori prediction of the side effects of the drug at the design phase is critical. In our Deep Side framework, we use context-related (gene expression) features along with the chemical structure to predict ADRs to account for conditions such as dosing, time interval, and cell line. The proposed MMNN model uses GEX and CS as combined features and achieves better accuracy performance compared to the models that only use the chemical structure (CS) finger- prints. The reported accuracy is noteworthy considering that we are only trying to estimate the condition-independent side effects. Finally, SMILES Conv model outperforms all other approaches by applying convolution on SMILES representation of drug chemical structure.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97327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46910" y="2602230"/>
            <a:ext cx="9593580" cy="1490345"/>
          </a:xfrm>
        </p:spPr>
        <p:txBody>
          <a:bodyPr>
            <a:noAutofit/>
          </a:bodyPr>
          <a:lstStyle/>
          <a:p>
            <a:r>
              <a:rPr lang="en-US" sz="9600" dirty="0">
                <a:latin typeface="Times New Roman" panose="02020603050405020304" pitchFamily="18" charset="0"/>
                <a:cs typeface="Times New Roman" panose="02020603050405020304" pitchFamily="18" charset="0"/>
              </a:rPr>
              <a:t>THANK YOU !</a:t>
            </a:r>
            <a:endParaRPr lang="en-IN" sz="96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00914535-09EE-44C8-8BB5-AC4CEAFFE716}">
  <ds:schemaRefs/>
</ds:datastoreItem>
</file>

<file path=docProps/app.xml><?xml version="1.0" encoding="utf-8"?>
<Properties xmlns="http://schemas.openxmlformats.org/officeDocument/2006/extended-properties" xmlns:vt="http://schemas.openxmlformats.org/officeDocument/2006/docPropsVTypes">
  <TotalTime>1196</TotalTime>
  <Words>2164</Words>
  <Application>Microsoft Office PowerPoint</Application>
  <PresentationFormat>Widescreen</PresentationFormat>
  <Paragraphs>200</Paragraphs>
  <Slides>23</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23</vt:i4>
      </vt:variant>
    </vt:vector>
  </HeadingPairs>
  <TitlesOfParts>
    <vt:vector size="32" baseType="lpstr">
      <vt:lpstr>Arial</vt:lpstr>
      <vt:lpstr>Calibri</vt:lpstr>
      <vt:lpstr>Calibri Light</vt:lpstr>
      <vt:lpstr>Times New Roman</vt:lpstr>
      <vt:lpstr>Trade Gothic LT Pro</vt:lpstr>
      <vt:lpstr>Trebuchet MS</vt:lpstr>
      <vt:lpstr>Wingdings</vt:lpstr>
      <vt:lpstr>Office Theme</vt:lpstr>
      <vt:lpstr>1_Office Theme</vt:lpstr>
      <vt:lpstr>PowerPoint Presentation</vt:lpstr>
      <vt:lpstr>AGENDA</vt:lpstr>
      <vt:lpstr> ABSTRACT </vt:lpstr>
      <vt:lpstr>INTRODUCTION</vt:lpstr>
      <vt:lpstr>LITERATURE REVIEW</vt:lpstr>
      <vt:lpstr>FUNCTIONAL AND NON-FUNCTIONAL REQUIREMENTS</vt:lpstr>
      <vt:lpstr>SOFTWARE AND HARDWARE REQUIREMENTS</vt:lpstr>
      <vt:lpstr>UML DIAGRAMS</vt:lpstr>
      <vt:lpstr>UML Diagrams</vt:lpstr>
      <vt:lpstr>Use case:</vt:lpstr>
      <vt:lpstr>Sequence Diagram:</vt:lpstr>
      <vt:lpstr>SYSTEM DESIGN </vt:lpstr>
      <vt:lpstr>Implementation :  </vt:lpstr>
      <vt:lpstr>PowerPoint Presentation</vt:lpstr>
      <vt:lpstr>PowerPoint Presentation</vt:lpstr>
      <vt:lpstr>PowerPoint Presentation</vt:lpstr>
      <vt:lpstr>PowerPoint Presentation</vt:lpstr>
      <vt:lpstr>PowerPoint Presentation</vt:lpstr>
      <vt:lpstr>Output Screens :</vt:lpstr>
      <vt:lpstr>PowerPoint Presentation</vt:lpstr>
      <vt:lpstr>PowerPoint Presentation</vt:lpstr>
      <vt:lpstr>CONCLUSION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CLASSIFICATION OF HOTEL REVIEWS USING SENTIMENT ANALYSIS</dc:title>
  <dc:creator>KALAGONI JAYANTH</dc:creator>
  <cp:lastModifiedBy>Rakshith Reddy Gaddam</cp:lastModifiedBy>
  <cp:revision>97</cp:revision>
  <dcterms:created xsi:type="dcterms:W3CDTF">2023-09-11T17:22:00Z</dcterms:created>
  <dcterms:modified xsi:type="dcterms:W3CDTF">2025-10-12T10:14:13Z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3CBDFC77E9464079A5B6CB8A6C06FBB4_13</vt:lpwstr>
  </property>
  <property fmtid="{D5CDD505-2E9C-101B-9397-08002B2CF9AE}" pid="4" name="KSOProductBuildVer">
    <vt:lpwstr>1033-12.2.0.16731</vt:lpwstr>
  </property>
</Properties>
</file>